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62" r:id="rId7"/>
    <p:sldId id="263" r:id="rId8"/>
    <p:sldId id="264" r:id="rId9"/>
    <p:sldId id="265" r:id="rId10"/>
    <p:sldId id="266" r:id="rId11"/>
    <p:sldId id="267" r:id="rId12"/>
    <p:sldId id="325" r:id="rId13"/>
    <p:sldId id="324"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9" r:id="rId55"/>
    <p:sldId id="310" r:id="rId56"/>
    <p:sldId id="308" r:id="rId57"/>
    <p:sldId id="311" r:id="rId58"/>
    <p:sldId id="312" r:id="rId59"/>
    <p:sldId id="313" r:id="rId60"/>
    <p:sldId id="314" r:id="rId61"/>
    <p:sldId id="315" r:id="rId62"/>
    <p:sldId id="327" r:id="rId63"/>
    <p:sldId id="316" r:id="rId64"/>
    <p:sldId id="317" r:id="rId65"/>
    <p:sldId id="318" r:id="rId66"/>
    <p:sldId id="319" r:id="rId67"/>
    <p:sldId id="320" r:id="rId68"/>
    <p:sldId id="321" r:id="rId69"/>
    <p:sldId id="322" r:id="rId70"/>
    <p:sldId id="323"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al Barafi" userId="94e5b680-70bc-4a4b-a761-fd87008493db" providerId="ADAL" clId="{C15419FD-A994-4E21-8376-300428588E49}"/>
    <pc:docChg chg="modSld">
      <pc:chgData name="Jamal Barafi" userId="94e5b680-70bc-4a4b-a761-fd87008493db" providerId="ADAL" clId="{C15419FD-A994-4E21-8376-300428588E49}" dt="2023-09-05T14:52:13.350" v="2" actId="2711"/>
      <pc:docMkLst>
        <pc:docMk/>
      </pc:docMkLst>
      <pc:sldChg chg="modSp mod">
        <pc:chgData name="Jamal Barafi" userId="94e5b680-70bc-4a4b-a761-fd87008493db" providerId="ADAL" clId="{C15419FD-A994-4E21-8376-300428588E49}" dt="2023-09-05T14:52:13.350" v="2" actId="2711"/>
        <pc:sldMkLst>
          <pc:docMk/>
          <pc:sldMk cId="1341345603" sldId="261"/>
        </pc:sldMkLst>
        <pc:spChg chg="mod">
          <ac:chgData name="Jamal Barafi" userId="94e5b680-70bc-4a4b-a761-fd87008493db" providerId="ADAL" clId="{C15419FD-A994-4E21-8376-300428588E49}" dt="2023-09-05T14:52:13.350" v="2" actId="2711"/>
          <ac:spMkLst>
            <pc:docMk/>
            <pc:sldMk cId="1341345603" sldId="261"/>
            <ac:spMk id="3" creationId="{00000000-0000-0000-0000-000000000000}"/>
          </ac:spMkLst>
        </pc:spChg>
      </pc:sldChg>
    </pc:docChg>
  </pc:docChgLst>
  <pc:docChgLst>
    <pc:chgData name="Jamal Barafi" userId="94e5b680-70bc-4a4b-a761-fd87008493db" providerId="ADAL" clId="{E35ACA16-733D-4976-BD62-CD61AD41EF0F}"/>
    <pc:docChg chg="undo custSel addSld delSld modSld">
      <pc:chgData name="Jamal Barafi" userId="94e5b680-70bc-4a4b-a761-fd87008493db" providerId="ADAL" clId="{E35ACA16-733D-4976-BD62-CD61AD41EF0F}" dt="2025-01-29T13:00:19.460" v="207" actId="47"/>
      <pc:docMkLst>
        <pc:docMk/>
      </pc:docMkLst>
      <pc:sldChg chg="modSp mod">
        <pc:chgData name="Jamal Barafi" userId="94e5b680-70bc-4a4b-a761-fd87008493db" providerId="ADAL" clId="{E35ACA16-733D-4976-BD62-CD61AD41EF0F}" dt="2025-01-29T13:00:16.782" v="206" actId="255"/>
        <pc:sldMkLst>
          <pc:docMk/>
          <pc:sldMk cId="1405182132" sldId="257"/>
        </pc:sldMkLst>
        <pc:spChg chg="mod">
          <ac:chgData name="Jamal Barafi" userId="94e5b680-70bc-4a4b-a761-fd87008493db" providerId="ADAL" clId="{E35ACA16-733D-4976-BD62-CD61AD41EF0F}" dt="2025-01-29T12:59:45.250" v="199" actId="122"/>
          <ac:spMkLst>
            <pc:docMk/>
            <pc:sldMk cId="1405182132" sldId="257"/>
            <ac:spMk id="2" creationId="{00000000-0000-0000-0000-000000000000}"/>
          </ac:spMkLst>
        </pc:spChg>
        <pc:spChg chg="mod">
          <ac:chgData name="Jamal Barafi" userId="94e5b680-70bc-4a4b-a761-fd87008493db" providerId="ADAL" clId="{E35ACA16-733D-4976-BD62-CD61AD41EF0F}" dt="2025-01-29T13:00:16.782" v="206" actId="255"/>
          <ac:spMkLst>
            <pc:docMk/>
            <pc:sldMk cId="1405182132" sldId="257"/>
            <ac:spMk id="3" creationId="{00000000-0000-0000-0000-000000000000}"/>
          </ac:spMkLst>
        </pc:spChg>
      </pc:sldChg>
      <pc:sldChg chg="modSp del mod">
        <pc:chgData name="Jamal Barafi" userId="94e5b680-70bc-4a4b-a761-fd87008493db" providerId="ADAL" clId="{E35ACA16-733D-4976-BD62-CD61AD41EF0F}" dt="2025-01-29T13:00:19.460" v="207" actId="47"/>
        <pc:sldMkLst>
          <pc:docMk/>
          <pc:sldMk cId="4026615907" sldId="258"/>
        </pc:sldMkLst>
        <pc:spChg chg="mod">
          <ac:chgData name="Jamal Barafi" userId="94e5b680-70bc-4a4b-a761-fd87008493db" providerId="ADAL" clId="{E35ACA16-733D-4976-BD62-CD61AD41EF0F}" dt="2025-01-29T12:59:59.020" v="200" actId="21"/>
          <ac:spMkLst>
            <pc:docMk/>
            <pc:sldMk cId="4026615907" sldId="258"/>
            <ac:spMk id="3" creationId="{00000000-0000-0000-0000-000000000000}"/>
          </ac:spMkLst>
        </pc:spChg>
      </pc:sldChg>
      <pc:sldChg chg="modSp mod">
        <pc:chgData name="Jamal Barafi" userId="94e5b680-70bc-4a4b-a761-fd87008493db" providerId="ADAL" clId="{E35ACA16-733D-4976-BD62-CD61AD41EF0F}" dt="2025-01-22T10:55:50.390" v="110" actId="12"/>
        <pc:sldMkLst>
          <pc:docMk/>
          <pc:sldMk cId="4159654914" sldId="267"/>
        </pc:sldMkLst>
        <pc:spChg chg="mod">
          <ac:chgData name="Jamal Barafi" userId="94e5b680-70bc-4a4b-a761-fd87008493db" providerId="ADAL" clId="{E35ACA16-733D-4976-BD62-CD61AD41EF0F}" dt="2025-01-22T10:55:23.008" v="103" actId="5793"/>
          <ac:spMkLst>
            <pc:docMk/>
            <pc:sldMk cId="4159654914" sldId="267"/>
            <ac:spMk id="2" creationId="{00000000-0000-0000-0000-000000000000}"/>
          </ac:spMkLst>
        </pc:spChg>
        <pc:spChg chg="mod">
          <ac:chgData name="Jamal Barafi" userId="94e5b680-70bc-4a4b-a761-fd87008493db" providerId="ADAL" clId="{E35ACA16-733D-4976-BD62-CD61AD41EF0F}" dt="2025-01-22T10:55:50.390" v="110" actId="12"/>
          <ac:spMkLst>
            <pc:docMk/>
            <pc:sldMk cId="4159654914" sldId="267"/>
            <ac:spMk id="3" creationId="{00000000-0000-0000-0000-000000000000}"/>
          </ac:spMkLst>
        </pc:spChg>
      </pc:sldChg>
      <pc:sldChg chg="modSp mod">
        <pc:chgData name="Jamal Barafi" userId="94e5b680-70bc-4a4b-a761-fd87008493db" providerId="ADAL" clId="{E35ACA16-733D-4976-BD62-CD61AD41EF0F}" dt="2025-01-22T11:08:30.914" v="191" actId="113"/>
        <pc:sldMkLst>
          <pc:docMk/>
          <pc:sldMk cId="3677234853" sldId="268"/>
        </pc:sldMkLst>
        <pc:spChg chg="mod">
          <ac:chgData name="Jamal Barafi" userId="94e5b680-70bc-4a4b-a761-fd87008493db" providerId="ADAL" clId="{E35ACA16-733D-4976-BD62-CD61AD41EF0F}" dt="2025-01-22T11:08:25.228" v="189" actId="27636"/>
          <ac:spMkLst>
            <pc:docMk/>
            <pc:sldMk cId="3677234853" sldId="268"/>
            <ac:spMk id="2" creationId="{00000000-0000-0000-0000-000000000000}"/>
          </ac:spMkLst>
        </pc:spChg>
        <pc:spChg chg="mod">
          <ac:chgData name="Jamal Barafi" userId="94e5b680-70bc-4a4b-a761-fd87008493db" providerId="ADAL" clId="{E35ACA16-733D-4976-BD62-CD61AD41EF0F}" dt="2025-01-22T11:08:30.914" v="191" actId="113"/>
          <ac:spMkLst>
            <pc:docMk/>
            <pc:sldMk cId="3677234853" sldId="268"/>
            <ac:spMk id="3" creationId="{00000000-0000-0000-0000-000000000000}"/>
          </ac:spMkLst>
        </pc:spChg>
      </pc:sldChg>
      <pc:sldChg chg="modSp mod">
        <pc:chgData name="Jamal Barafi" userId="94e5b680-70bc-4a4b-a761-fd87008493db" providerId="ADAL" clId="{E35ACA16-733D-4976-BD62-CD61AD41EF0F}" dt="2025-01-22T11:04:01.882" v="184" actId="207"/>
        <pc:sldMkLst>
          <pc:docMk/>
          <pc:sldMk cId="3631561045" sldId="272"/>
        </pc:sldMkLst>
        <pc:spChg chg="mod">
          <ac:chgData name="Jamal Barafi" userId="94e5b680-70bc-4a4b-a761-fd87008493db" providerId="ADAL" clId="{E35ACA16-733D-4976-BD62-CD61AD41EF0F}" dt="2025-01-22T11:04:01.882" v="184" actId="207"/>
          <ac:spMkLst>
            <pc:docMk/>
            <pc:sldMk cId="3631561045" sldId="272"/>
            <ac:spMk id="3" creationId="{00000000-0000-0000-0000-000000000000}"/>
          </ac:spMkLst>
        </pc:spChg>
      </pc:sldChg>
      <pc:sldChg chg="modSp mod">
        <pc:chgData name="Jamal Barafi" userId="94e5b680-70bc-4a4b-a761-fd87008493db" providerId="ADAL" clId="{E35ACA16-733D-4976-BD62-CD61AD41EF0F}" dt="2025-01-22T10:55:36.137" v="107" actId="27636"/>
        <pc:sldMkLst>
          <pc:docMk/>
          <pc:sldMk cId="592987755" sldId="322"/>
        </pc:sldMkLst>
        <pc:spChg chg="mod">
          <ac:chgData name="Jamal Barafi" userId="94e5b680-70bc-4a4b-a761-fd87008493db" providerId="ADAL" clId="{E35ACA16-733D-4976-BD62-CD61AD41EF0F}" dt="2025-01-22T10:55:36.137" v="107" actId="27636"/>
          <ac:spMkLst>
            <pc:docMk/>
            <pc:sldMk cId="592987755" sldId="322"/>
            <ac:spMk id="2" creationId="{00000000-0000-0000-0000-000000000000}"/>
          </ac:spMkLst>
        </pc:spChg>
      </pc:sldChg>
      <pc:sldChg chg="modSp new mod">
        <pc:chgData name="Jamal Barafi" userId="94e5b680-70bc-4a4b-a761-fd87008493db" providerId="ADAL" clId="{E35ACA16-733D-4976-BD62-CD61AD41EF0F}" dt="2025-01-22T10:56:49.833" v="118" actId="33524"/>
        <pc:sldMkLst>
          <pc:docMk/>
          <pc:sldMk cId="736651872" sldId="324"/>
        </pc:sldMkLst>
        <pc:spChg chg="mod">
          <ac:chgData name="Jamal Barafi" userId="94e5b680-70bc-4a4b-a761-fd87008493db" providerId="ADAL" clId="{E35ACA16-733D-4976-BD62-CD61AD41EF0F}" dt="2025-01-22T10:56:49.833" v="118" actId="33524"/>
          <ac:spMkLst>
            <pc:docMk/>
            <pc:sldMk cId="736651872" sldId="324"/>
            <ac:spMk id="2" creationId="{EC61BFA7-194A-8F76-B3BE-C662983B3888}"/>
          </ac:spMkLst>
        </pc:spChg>
        <pc:spChg chg="mod">
          <ac:chgData name="Jamal Barafi" userId="94e5b680-70bc-4a4b-a761-fd87008493db" providerId="ADAL" clId="{E35ACA16-733D-4976-BD62-CD61AD41EF0F}" dt="2025-01-22T10:56:29.704" v="113" actId="782"/>
          <ac:spMkLst>
            <pc:docMk/>
            <pc:sldMk cId="736651872" sldId="324"/>
            <ac:spMk id="3" creationId="{FFF7246E-0223-93AE-EE70-B6D63D7D72E9}"/>
          </ac:spMkLst>
        </pc:spChg>
      </pc:sldChg>
      <pc:sldChg chg="modSp new mod">
        <pc:chgData name="Jamal Barafi" userId="94e5b680-70bc-4a4b-a761-fd87008493db" providerId="ADAL" clId="{E35ACA16-733D-4976-BD62-CD61AD41EF0F}" dt="2025-01-22T10:55:02.523" v="90" actId="14100"/>
        <pc:sldMkLst>
          <pc:docMk/>
          <pc:sldMk cId="3139723094" sldId="325"/>
        </pc:sldMkLst>
        <pc:spChg chg="mod">
          <ac:chgData name="Jamal Barafi" userId="94e5b680-70bc-4a4b-a761-fd87008493db" providerId="ADAL" clId="{E35ACA16-733D-4976-BD62-CD61AD41EF0F}" dt="2025-01-22T10:55:02.523" v="90" actId="14100"/>
          <ac:spMkLst>
            <pc:docMk/>
            <pc:sldMk cId="3139723094" sldId="325"/>
            <ac:spMk id="2" creationId="{F95CBC31-D293-1689-07AF-E404DF35F14A}"/>
          </ac:spMkLst>
        </pc:spChg>
        <pc:spChg chg="mod">
          <ac:chgData name="Jamal Barafi" userId="94e5b680-70bc-4a4b-a761-fd87008493db" providerId="ADAL" clId="{E35ACA16-733D-4976-BD62-CD61AD41EF0F}" dt="2025-01-22T10:55:00.957" v="89" actId="14100"/>
          <ac:spMkLst>
            <pc:docMk/>
            <pc:sldMk cId="3139723094" sldId="325"/>
            <ac:spMk id="3" creationId="{506881A6-9D4B-8230-6553-B0CD8D60038B}"/>
          </ac:spMkLst>
        </pc:spChg>
      </pc:sldChg>
      <pc:sldChg chg="new add del">
        <pc:chgData name="Jamal Barafi" userId="94e5b680-70bc-4a4b-a761-fd87008493db" providerId="ADAL" clId="{E35ACA16-733D-4976-BD62-CD61AD41EF0F}" dt="2025-01-29T12:59:27.024" v="198" actId="47"/>
        <pc:sldMkLst>
          <pc:docMk/>
          <pc:sldMk cId="2550267467" sldId="326"/>
        </pc:sldMkLst>
      </pc:sldChg>
      <pc:sldChg chg="add del">
        <pc:chgData name="Jamal Barafi" userId="94e5b680-70bc-4a4b-a761-fd87008493db" providerId="ADAL" clId="{E35ACA16-733D-4976-BD62-CD61AD41EF0F}" dt="2025-01-29T12:59:20.772" v="196" actId="47"/>
        <pc:sldMkLst>
          <pc:docMk/>
          <pc:sldMk cId="4259174708" sldId="327"/>
        </pc:sldMkLst>
      </pc:sldChg>
    </pc:docChg>
  </pc:docChgLst>
  <pc:docChgLst>
    <pc:chgData name="Jamal Barafi" userId="94e5b680-70bc-4a4b-a761-fd87008493db" providerId="ADAL" clId="{17DC0FD5-5535-4C49-9A0F-96D1DB2788CC}"/>
    <pc:docChg chg="undo custSel modSld">
      <pc:chgData name="Jamal Barafi" userId="94e5b680-70bc-4a4b-a761-fd87008493db" providerId="ADAL" clId="{17DC0FD5-5535-4C49-9A0F-96D1DB2788CC}" dt="2025-08-28T08:59:15.115" v="793" actId="14100"/>
      <pc:docMkLst>
        <pc:docMk/>
      </pc:docMkLst>
      <pc:sldChg chg="modSp mod">
        <pc:chgData name="Jamal Barafi" userId="94e5b680-70bc-4a4b-a761-fd87008493db" providerId="ADAL" clId="{17DC0FD5-5535-4C49-9A0F-96D1DB2788CC}" dt="2025-08-28T08:56:52.217" v="671" actId="122"/>
        <pc:sldMkLst>
          <pc:docMk/>
          <pc:sldMk cId="3489405419" sldId="256"/>
        </pc:sldMkLst>
        <pc:spChg chg="mod">
          <ac:chgData name="Jamal Barafi" userId="94e5b680-70bc-4a4b-a761-fd87008493db" providerId="ADAL" clId="{17DC0FD5-5535-4C49-9A0F-96D1DB2788CC}" dt="2025-08-28T08:56:52.217" v="671" actId="122"/>
          <ac:spMkLst>
            <pc:docMk/>
            <pc:sldMk cId="3489405419" sldId="256"/>
            <ac:spMk id="2" creationId="{00000000-0000-0000-0000-000000000000}"/>
          </ac:spMkLst>
        </pc:spChg>
      </pc:sldChg>
      <pc:sldChg chg="modSp mod">
        <pc:chgData name="Jamal Barafi" userId="94e5b680-70bc-4a4b-a761-fd87008493db" providerId="ADAL" clId="{17DC0FD5-5535-4C49-9A0F-96D1DB2788CC}" dt="2025-08-28T08:58:19.864" v="779" actId="20577"/>
        <pc:sldMkLst>
          <pc:docMk/>
          <pc:sldMk cId="1405182132" sldId="257"/>
        </pc:sldMkLst>
        <pc:spChg chg="mod">
          <ac:chgData name="Jamal Barafi" userId="94e5b680-70bc-4a4b-a761-fd87008493db" providerId="ADAL" clId="{17DC0FD5-5535-4C49-9A0F-96D1DB2788CC}" dt="2025-08-28T08:58:19.864" v="779" actId="20577"/>
          <ac:spMkLst>
            <pc:docMk/>
            <pc:sldMk cId="1405182132" sldId="257"/>
            <ac:spMk id="3" creationId="{00000000-0000-0000-0000-000000000000}"/>
          </ac:spMkLst>
        </pc:spChg>
      </pc:sldChg>
      <pc:sldChg chg="modSp mod">
        <pc:chgData name="Jamal Barafi" userId="94e5b680-70bc-4a4b-a761-fd87008493db" providerId="ADAL" clId="{17DC0FD5-5535-4C49-9A0F-96D1DB2788CC}" dt="2025-08-28T08:34:06.046" v="0" actId="207"/>
        <pc:sldMkLst>
          <pc:docMk/>
          <pc:sldMk cId="863464530" sldId="265"/>
        </pc:sldMkLst>
        <pc:spChg chg="mod">
          <ac:chgData name="Jamal Barafi" userId="94e5b680-70bc-4a4b-a761-fd87008493db" providerId="ADAL" clId="{17DC0FD5-5535-4C49-9A0F-96D1DB2788CC}" dt="2025-08-28T08:34:06.046" v="0" actId="207"/>
          <ac:spMkLst>
            <pc:docMk/>
            <pc:sldMk cId="863464530" sldId="265"/>
            <ac:spMk id="3" creationId="{00000000-0000-0000-0000-000000000000}"/>
          </ac:spMkLst>
        </pc:spChg>
      </pc:sldChg>
      <pc:sldChg chg="modSp mod">
        <pc:chgData name="Jamal Barafi" userId="94e5b680-70bc-4a4b-a761-fd87008493db" providerId="ADAL" clId="{17DC0FD5-5535-4C49-9A0F-96D1DB2788CC}" dt="2025-08-28T08:41:04.857" v="227" actId="6549"/>
        <pc:sldMkLst>
          <pc:docMk/>
          <pc:sldMk cId="4159654914" sldId="267"/>
        </pc:sldMkLst>
        <pc:spChg chg="mod">
          <ac:chgData name="Jamal Barafi" userId="94e5b680-70bc-4a4b-a761-fd87008493db" providerId="ADAL" clId="{17DC0FD5-5535-4C49-9A0F-96D1DB2788CC}" dt="2025-08-28T08:41:04.857" v="227" actId="6549"/>
          <ac:spMkLst>
            <pc:docMk/>
            <pc:sldMk cId="4159654914" sldId="267"/>
            <ac:spMk id="3" creationId="{00000000-0000-0000-0000-000000000000}"/>
          </ac:spMkLst>
        </pc:spChg>
      </pc:sldChg>
      <pc:sldChg chg="modSp mod">
        <pc:chgData name="Jamal Barafi" userId="94e5b680-70bc-4a4b-a761-fd87008493db" providerId="ADAL" clId="{17DC0FD5-5535-4C49-9A0F-96D1DB2788CC}" dt="2025-08-28T08:50:21.860" v="444" actId="20577"/>
        <pc:sldMkLst>
          <pc:docMk/>
          <pc:sldMk cId="3631561045" sldId="272"/>
        </pc:sldMkLst>
        <pc:spChg chg="mod">
          <ac:chgData name="Jamal Barafi" userId="94e5b680-70bc-4a4b-a761-fd87008493db" providerId="ADAL" clId="{17DC0FD5-5535-4C49-9A0F-96D1DB2788CC}" dt="2025-08-28T08:50:21.860" v="444" actId="20577"/>
          <ac:spMkLst>
            <pc:docMk/>
            <pc:sldMk cId="3631561045" sldId="272"/>
            <ac:spMk id="3" creationId="{00000000-0000-0000-0000-000000000000}"/>
          </ac:spMkLst>
        </pc:spChg>
      </pc:sldChg>
      <pc:sldChg chg="modSp mod">
        <pc:chgData name="Jamal Barafi" userId="94e5b680-70bc-4a4b-a761-fd87008493db" providerId="ADAL" clId="{17DC0FD5-5535-4C49-9A0F-96D1DB2788CC}" dt="2025-08-28T08:54:48.559" v="641" actId="33524"/>
        <pc:sldMkLst>
          <pc:docMk/>
          <pc:sldMk cId="1919496940" sldId="274"/>
        </pc:sldMkLst>
        <pc:spChg chg="mod">
          <ac:chgData name="Jamal Barafi" userId="94e5b680-70bc-4a4b-a761-fd87008493db" providerId="ADAL" clId="{17DC0FD5-5535-4C49-9A0F-96D1DB2788CC}" dt="2025-08-28T08:54:48.559" v="641" actId="33524"/>
          <ac:spMkLst>
            <pc:docMk/>
            <pc:sldMk cId="1919496940" sldId="274"/>
            <ac:spMk id="3" creationId="{00000000-0000-0000-0000-000000000000}"/>
          </ac:spMkLst>
        </pc:spChg>
      </pc:sldChg>
      <pc:sldChg chg="modSp mod">
        <pc:chgData name="Jamal Barafi" userId="94e5b680-70bc-4a4b-a761-fd87008493db" providerId="ADAL" clId="{17DC0FD5-5535-4C49-9A0F-96D1DB2788CC}" dt="2025-08-28T08:56:18.230" v="670" actId="14100"/>
        <pc:sldMkLst>
          <pc:docMk/>
          <pc:sldMk cId="2706090854" sldId="275"/>
        </pc:sldMkLst>
        <pc:spChg chg="mod">
          <ac:chgData name="Jamal Barafi" userId="94e5b680-70bc-4a4b-a761-fd87008493db" providerId="ADAL" clId="{17DC0FD5-5535-4C49-9A0F-96D1DB2788CC}" dt="2025-08-28T08:56:18.230" v="670" actId="14100"/>
          <ac:spMkLst>
            <pc:docMk/>
            <pc:sldMk cId="2706090854" sldId="275"/>
            <ac:spMk id="3" creationId="{00000000-0000-0000-0000-000000000000}"/>
          </ac:spMkLst>
        </pc:spChg>
      </pc:sldChg>
      <pc:sldChg chg="modSp mod">
        <pc:chgData name="Jamal Barafi" userId="94e5b680-70bc-4a4b-a761-fd87008493db" providerId="ADAL" clId="{17DC0FD5-5535-4C49-9A0F-96D1DB2788CC}" dt="2025-08-28T08:58:54.313" v="789" actId="20577"/>
        <pc:sldMkLst>
          <pc:docMk/>
          <pc:sldMk cId="3741761606" sldId="321"/>
        </pc:sldMkLst>
        <pc:spChg chg="mod">
          <ac:chgData name="Jamal Barafi" userId="94e5b680-70bc-4a4b-a761-fd87008493db" providerId="ADAL" clId="{17DC0FD5-5535-4C49-9A0F-96D1DB2788CC}" dt="2025-08-28T08:58:54.313" v="789" actId="20577"/>
          <ac:spMkLst>
            <pc:docMk/>
            <pc:sldMk cId="3741761606" sldId="321"/>
            <ac:spMk id="2" creationId="{00000000-0000-0000-0000-000000000000}"/>
          </ac:spMkLst>
        </pc:spChg>
      </pc:sldChg>
      <pc:sldChg chg="modSp mod">
        <pc:chgData name="Jamal Barafi" userId="94e5b680-70bc-4a4b-a761-fd87008493db" providerId="ADAL" clId="{17DC0FD5-5535-4C49-9A0F-96D1DB2788CC}" dt="2025-08-28T08:59:15.115" v="793" actId="14100"/>
        <pc:sldMkLst>
          <pc:docMk/>
          <pc:sldMk cId="592987755" sldId="322"/>
        </pc:sldMkLst>
        <pc:spChg chg="mod">
          <ac:chgData name="Jamal Barafi" userId="94e5b680-70bc-4a4b-a761-fd87008493db" providerId="ADAL" clId="{17DC0FD5-5535-4C49-9A0F-96D1DB2788CC}" dt="2025-08-28T08:59:15.115" v="793" actId="14100"/>
          <ac:spMkLst>
            <pc:docMk/>
            <pc:sldMk cId="592987755" sldId="322"/>
            <ac:spMk id="2" creationId="{00000000-0000-0000-0000-000000000000}"/>
          </ac:spMkLst>
        </pc:spChg>
        <pc:spChg chg="mod">
          <ac:chgData name="Jamal Barafi" userId="94e5b680-70bc-4a4b-a761-fd87008493db" providerId="ADAL" clId="{17DC0FD5-5535-4C49-9A0F-96D1DB2788CC}" dt="2025-08-28T08:59:12.534" v="792" actId="14100"/>
          <ac:spMkLst>
            <pc:docMk/>
            <pc:sldMk cId="592987755" sldId="322"/>
            <ac:spMk id="3" creationId="{00000000-0000-0000-0000-000000000000}"/>
          </ac:spMkLst>
        </pc:spChg>
      </pc:sldChg>
      <pc:sldChg chg="modSp mod">
        <pc:chgData name="Jamal Barafi" userId="94e5b680-70bc-4a4b-a761-fd87008493db" providerId="ADAL" clId="{17DC0FD5-5535-4C49-9A0F-96D1DB2788CC}" dt="2025-08-28T08:40:53.498" v="225" actId="115"/>
        <pc:sldMkLst>
          <pc:docMk/>
          <pc:sldMk cId="3139723094" sldId="325"/>
        </pc:sldMkLst>
        <pc:spChg chg="mod">
          <ac:chgData name="Jamal Barafi" userId="94e5b680-70bc-4a4b-a761-fd87008493db" providerId="ADAL" clId="{17DC0FD5-5535-4C49-9A0F-96D1DB2788CC}" dt="2025-08-28T08:40:53.498" v="225" actId="115"/>
          <ac:spMkLst>
            <pc:docMk/>
            <pc:sldMk cId="3139723094" sldId="325"/>
            <ac:spMk id="2" creationId="{F95CBC31-D293-1689-07AF-E404DF35F14A}"/>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8/28/2025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8/28/2025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8/28/2025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pPr/>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8/28/2025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8/28/2025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ar-JO" dirty="0"/>
              <a:t>مدخل إلى حقوق الانسان في الاسلام</a:t>
            </a:r>
            <a:r>
              <a:rPr lang="en-US" dirty="0"/>
              <a:t> </a:t>
            </a:r>
            <a:r>
              <a:rPr lang="ar-JO" dirty="0"/>
              <a:t>والمواثيق الدولية</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89405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r" rtl="1"/>
            <a:r>
              <a:rPr lang="ar-JO" dirty="0"/>
              <a:t>أولا: تعريف عام بحقوق الانسان</a:t>
            </a:r>
          </a:p>
          <a:p>
            <a:pPr algn="r" rtl="1"/>
            <a:r>
              <a:rPr lang="ar-JO" dirty="0"/>
              <a:t>ثانيا: المقصود بالمواثيق الدولية لحقوق الانسان</a:t>
            </a:r>
          </a:p>
          <a:p>
            <a:pPr algn="r" rtl="1"/>
            <a:r>
              <a:rPr lang="ar-JO" dirty="0"/>
              <a:t>ثالثا: انضمام الدول الاسلامية للمواثيق الدولية</a:t>
            </a:r>
          </a:p>
          <a:p>
            <a:pPr algn="r" rtl="1"/>
            <a:r>
              <a:rPr lang="ar-JO" dirty="0"/>
              <a:t>رابعا: أنواع حقوق الانسان</a:t>
            </a:r>
            <a:endParaRPr lang="ar-SA" dirty="0"/>
          </a:p>
          <a:p>
            <a:pPr algn="r" rtl="1"/>
            <a:endParaRPr lang="ar-SA" dirty="0"/>
          </a:p>
          <a:p>
            <a:pPr marL="256032" lvl="1" indent="0" algn="ctr" rtl="1">
              <a:buNone/>
            </a:pPr>
            <a:r>
              <a:rPr lang="ar-JO" sz="3600" dirty="0">
                <a:solidFill>
                  <a:srgbClr val="FF0000"/>
                </a:solidFill>
              </a:rPr>
              <a:t>تعريف حقوق الانسان</a:t>
            </a:r>
          </a:p>
          <a:p>
            <a:pPr algn="ctr" rtl="1"/>
            <a:r>
              <a:rPr lang="ar-JO" sz="4000" dirty="0"/>
              <a:t>مُكنات تُمنح للشخص لمجرد كونه من البشر</a:t>
            </a:r>
            <a:endParaRPr lang="ar-SA" sz="4000" dirty="0"/>
          </a:p>
          <a:p>
            <a:pPr marL="109728" indent="0" algn="ctr" rtl="1">
              <a:buNone/>
            </a:pPr>
            <a:r>
              <a:rPr lang="ar-SA" sz="4000" dirty="0"/>
              <a:t>أو: </a:t>
            </a:r>
          </a:p>
          <a:p>
            <a:pPr marL="109728" indent="0" algn="ctr" rtl="1">
              <a:buNone/>
            </a:pPr>
            <a:r>
              <a:rPr lang="ar-SA" sz="4000" dirty="0"/>
              <a:t>هي مجموعة الحقوق التي يمتلكها الإنسان في كل زمان ومكان لصفته إنسان. </a:t>
            </a:r>
          </a:p>
          <a:p>
            <a:pPr algn="ctr" rtl="1"/>
            <a:endParaRPr lang="en-US" sz="4000" dirty="0"/>
          </a:p>
          <a:p>
            <a:pPr algn="ctr" rtl="1"/>
            <a:endParaRPr lang="en-US" dirty="0"/>
          </a:p>
        </p:txBody>
      </p:sp>
      <p:sp>
        <p:nvSpPr>
          <p:cNvPr id="2" name="Title 1"/>
          <p:cNvSpPr>
            <a:spLocks noGrp="1"/>
          </p:cNvSpPr>
          <p:nvPr>
            <p:ph type="title"/>
          </p:nvPr>
        </p:nvSpPr>
        <p:spPr/>
        <p:txBody>
          <a:bodyPr/>
          <a:lstStyle/>
          <a:p>
            <a:pPr algn="ctr"/>
            <a:r>
              <a:rPr lang="ar-JO" dirty="0"/>
              <a:t>تقسيم</a:t>
            </a:r>
            <a:endParaRPr lang="en-US" dirty="0"/>
          </a:p>
        </p:txBody>
      </p:sp>
    </p:spTree>
    <p:extLst>
      <p:ext uri="{BB962C8B-B14F-4D97-AF65-F5344CB8AC3E}">
        <p14:creationId xmlns:p14="http://schemas.microsoft.com/office/powerpoint/2010/main" val="1405182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مُكنات: القدرة والاستطاعة على القيام بعمل</a:t>
            </a:r>
            <a:r>
              <a:rPr lang="en-US" dirty="0"/>
              <a:t> </a:t>
            </a:r>
            <a:r>
              <a:rPr lang="ar-JO" dirty="0"/>
              <a:t>أو الامتناع عن عمل معين. تهدف إلى تحقيق منفعة أو ميزة أو مصلحة لصاحبها، أو تقرير اختصاص أو سلطة له.</a:t>
            </a:r>
          </a:p>
          <a:p>
            <a:pPr algn="just" rtl="1"/>
            <a:r>
              <a:rPr lang="ar-JO" dirty="0"/>
              <a:t>أنها تُمنح للشخص؛ وليس بالضرورة أن تمنح كلها للشخص؛ كذوي الإعاقة ؛ أو حقوق الزوجة...</a:t>
            </a:r>
          </a:p>
          <a:p>
            <a:pPr algn="just" rtl="1"/>
            <a:r>
              <a:rPr lang="ar-JO" dirty="0"/>
              <a:t>أنها يُعترف بها للشخص لمجرد كونه انسانا (أي بشر)، فهي لازمة لوجود الشخص الطبيعي، وللحفاظ على كيانه، وحماية شخصه، والقيم اللصيقة به، ولكي يحيا حياة كريمة.</a:t>
            </a:r>
            <a:endParaRPr lang="en-US" dirty="0"/>
          </a:p>
        </p:txBody>
      </p:sp>
      <p:sp>
        <p:nvSpPr>
          <p:cNvPr id="2" name="Title 1"/>
          <p:cNvSpPr>
            <a:spLocks noGrp="1"/>
          </p:cNvSpPr>
          <p:nvPr>
            <p:ph type="title"/>
          </p:nvPr>
        </p:nvSpPr>
        <p:spPr/>
        <p:txBody>
          <a:bodyPr/>
          <a:lstStyle/>
          <a:p>
            <a:pPr algn="ctr"/>
            <a:r>
              <a:rPr lang="ar-JO" dirty="0">
                <a:solidFill>
                  <a:schemeClr val="accent2"/>
                </a:solidFill>
              </a:rPr>
              <a:t>عناصر التعريف</a:t>
            </a:r>
            <a:endParaRPr lang="en-US" dirty="0">
              <a:solidFill>
                <a:schemeClr val="accent2"/>
              </a:solidFill>
            </a:endParaRPr>
          </a:p>
        </p:txBody>
      </p:sp>
    </p:spTree>
    <p:extLst>
      <p:ext uri="{BB962C8B-B14F-4D97-AF65-F5344CB8AC3E}">
        <p14:creationId xmlns:p14="http://schemas.microsoft.com/office/powerpoint/2010/main" val="688715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حقوق الانسان مقررة لأي انسان دون تفرقة أو تمييز</a:t>
            </a:r>
          </a:p>
          <a:p>
            <a:pPr algn="just" rtl="1"/>
            <a:r>
              <a:rPr lang="ar-JO" dirty="0"/>
              <a:t>لا يجوز التنازل عنها، ولا الحجز عليها، ولا تسقط بالتقادم</a:t>
            </a:r>
          </a:p>
          <a:p>
            <a:pPr algn="just" rtl="1"/>
            <a:r>
              <a:rPr lang="ar-JO" dirty="0"/>
              <a:t>غير محددة على سبيل الحصر؛ يمكن نشأة حقوق جديدة، كالحق في البيئة.</a:t>
            </a:r>
            <a:r>
              <a:rPr lang="en-US" dirty="0"/>
              <a:t> </a:t>
            </a:r>
            <a:r>
              <a:rPr lang="ar-SA" dirty="0"/>
              <a:t> الحق في المعرفة،،،</a:t>
            </a:r>
            <a:endParaRPr lang="en-US" dirty="0"/>
          </a:p>
        </p:txBody>
      </p:sp>
      <p:sp>
        <p:nvSpPr>
          <p:cNvPr id="2" name="Title 1"/>
          <p:cNvSpPr>
            <a:spLocks noGrp="1"/>
          </p:cNvSpPr>
          <p:nvPr>
            <p:ph type="title"/>
          </p:nvPr>
        </p:nvSpPr>
        <p:spPr/>
        <p:txBody>
          <a:bodyPr/>
          <a:lstStyle/>
          <a:p>
            <a:pPr algn="ctr" rtl="1"/>
            <a:r>
              <a:rPr lang="ar-JO" dirty="0"/>
              <a:t>نتائج التعريف</a:t>
            </a:r>
            <a:endParaRPr lang="en-US" dirty="0"/>
          </a:p>
        </p:txBody>
      </p:sp>
    </p:spTree>
    <p:extLst>
      <p:ext uri="{BB962C8B-B14F-4D97-AF65-F5344CB8AC3E}">
        <p14:creationId xmlns:p14="http://schemas.microsoft.com/office/powerpoint/2010/main" val="418648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rtl="1"/>
            <a:r>
              <a:rPr lang="ar-JO" dirty="0">
                <a:latin typeface="Times New Roman" panose="02020603050405020304" pitchFamily="18" charset="0"/>
                <a:cs typeface="Times New Roman" panose="02020603050405020304" pitchFamily="18" charset="0"/>
              </a:rPr>
              <a:t>ان وجوب احترام كرامة الانسان، يوجب الاعتراف له بحقوق الانسان.</a:t>
            </a:r>
          </a:p>
          <a:p>
            <a:pPr algn="just" rtl="1"/>
            <a:r>
              <a:rPr lang="ar-JO" dirty="0">
                <a:latin typeface="Times New Roman" panose="02020603050405020304" pitchFamily="18" charset="0"/>
                <a:cs typeface="Times New Roman" panose="02020603050405020304" pitchFamily="18" charset="0"/>
              </a:rPr>
              <a:t>احترام كرامة الانسان يقتضي ألا يوضع في ظروف معيشية مهينة، كأن لا يجد  الملبس أو المأوى أو الشراب أو الطعام؛ أو أن يعامل معاملة مهينة، كأن يعذب أو يحرم تعسفا من حقه في الحياة أو التنقل أو الرأي...</a:t>
            </a:r>
          </a:p>
          <a:p>
            <a:pPr algn="just" rtl="1"/>
            <a:r>
              <a:rPr lang="ar-JO" dirty="0">
                <a:latin typeface="Times New Roman" panose="02020603050405020304" pitchFamily="18" charset="0"/>
                <a:cs typeface="Times New Roman" panose="02020603050405020304" pitchFamily="18" charset="0"/>
              </a:rPr>
              <a:t>قال تعالى: (ولقد كرمنا بني آدم)، (الإسراء، 70)</a:t>
            </a:r>
          </a:p>
          <a:p>
            <a:pPr algn="just" rtl="1"/>
            <a:r>
              <a:rPr lang="ar-JO" dirty="0">
                <a:latin typeface="Times New Roman" panose="02020603050405020304" pitchFamily="18" charset="0"/>
                <a:cs typeface="Times New Roman" panose="02020603050405020304" pitchFamily="18" charset="0"/>
              </a:rPr>
              <a:t>الاعلان العالمي لحقوق الانسان (م1): يولد جميع الناس أحرارا ومتساوين في الكرامة.</a:t>
            </a:r>
          </a:p>
          <a:p>
            <a:pPr algn="just" rtl="1"/>
            <a:r>
              <a:rPr lang="ar-JO" dirty="0">
                <a:latin typeface="Times New Roman" panose="02020603050405020304" pitchFamily="18" charset="0"/>
                <a:cs typeface="Times New Roman" panose="02020603050405020304" pitchFamily="18" charset="0"/>
              </a:rPr>
              <a:t>مقدمة العهدين الدوليين «الإقرار بما لجميع أعضاء الأسرة البشرية من كرامة أصيلة فيهم».</a:t>
            </a:r>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pPr algn="ctr"/>
            <a:r>
              <a:rPr lang="ar-JO" dirty="0"/>
              <a:t>أساس حقوق الانسان</a:t>
            </a:r>
            <a:endParaRPr lang="en-US" dirty="0"/>
          </a:p>
        </p:txBody>
      </p:sp>
    </p:spTree>
    <p:extLst>
      <p:ext uri="{BB962C8B-B14F-4D97-AF65-F5344CB8AC3E}">
        <p14:creationId xmlns:p14="http://schemas.microsoft.com/office/powerpoint/2010/main" val="134134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العصور القديمة</a:t>
            </a:r>
          </a:p>
          <a:p>
            <a:pPr algn="r" rtl="1"/>
            <a:endParaRPr lang="ar-JO" dirty="0"/>
          </a:p>
          <a:p>
            <a:pPr algn="r" rtl="1"/>
            <a:r>
              <a:rPr lang="ar-JO" dirty="0"/>
              <a:t>العصور الوسطى</a:t>
            </a:r>
          </a:p>
          <a:p>
            <a:pPr algn="r" rtl="1"/>
            <a:endParaRPr lang="ar-JO" dirty="0"/>
          </a:p>
          <a:p>
            <a:pPr algn="r" rtl="1"/>
            <a:r>
              <a:rPr lang="ar-JO" dirty="0"/>
              <a:t>العصر الحديث</a:t>
            </a:r>
            <a:endParaRPr lang="en-US" dirty="0"/>
          </a:p>
        </p:txBody>
      </p:sp>
      <p:sp>
        <p:nvSpPr>
          <p:cNvPr id="2" name="Title 1"/>
          <p:cNvSpPr>
            <a:spLocks noGrp="1"/>
          </p:cNvSpPr>
          <p:nvPr>
            <p:ph type="title"/>
          </p:nvPr>
        </p:nvSpPr>
        <p:spPr/>
        <p:txBody>
          <a:bodyPr/>
          <a:lstStyle/>
          <a:p>
            <a:r>
              <a:rPr lang="ar-JO" dirty="0"/>
              <a:t>التطور التاريخي والفلسفي لحقوق الانسان</a:t>
            </a:r>
            <a:endParaRPr lang="en-US" dirty="0"/>
          </a:p>
        </p:txBody>
      </p:sp>
    </p:spTree>
    <p:extLst>
      <p:ext uri="{BB962C8B-B14F-4D97-AF65-F5344CB8AC3E}">
        <p14:creationId xmlns:p14="http://schemas.microsoft.com/office/powerpoint/2010/main" val="1690292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السمات الأساسية: السلطة المطلقة للحاكم/ مشروعية الرق/ دونية المرأة.</a:t>
            </a:r>
          </a:p>
          <a:p>
            <a:pPr algn="r" rtl="1"/>
            <a:endParaRPr lang="ar-JO" dirty="0"/>
          </a:p>
          <a:p>
            <a:pPr algn="r" rtl="1"/>
            <a:r>
              <a:rPr lang="ar-JO" dirty="0"/>
              <a:t>ظهور المسيحية: نادت بالتسامح، وتحرير الانسان</a:t>
            </a:r>
            <a:r>
              <a:rPr lang="ar-SA" dirty="0"/>
              <a:t> </a:t>
            </a:r>
            <a:r>
              <a:rPr lang="ar-JO" dirty="0"/>
              <a:t>من الظلم والاضطهاد، والحياة الكريمة..</a:t>
            </a:r>
          </a:p>
          <a:p>
            <a:pPr marL="0" indent="0" algn="r" rtl="1">
              <a:buNone/>
            </a:pPr>
            <a:endParaRPr lang="ar-JO" dirty="0"/>
          </a:p>
          <a:p>
            <a:pPr algn="r" rtl="1"/>
            <a:r>
              <a:rPr lang="ar-JO" dirty="0"/>
              <a:t>إلا أن تأثير المسيحية على الامبراطورية الرومانية في مجال الاعتراف بحقوق الانسان لم يكن كبيرا.</a:t>
            </a:r>
            <a:endParaRPr lang="en-US" dirty="0"/>
          </a:p>
        </p:txBody>
      </p:sp>
      <p:sp>
        <p:nvSpPr>
          <p:cNvPr id="2" name="Title 1"/>
          <p:cNvSpPr>
            <a:spLocks noGrp="1"/>
          </p:cNvSpPr>
          <p:nvPr>
            <p:ph type="title"/>
          </p:nvPr>
        </p:nvSpPr>
        <p:spPr/>
        <p:txBody>
          <a:bodyPr/>
          <a:lstStyle/>
          <a:p>
            <a:pPr algn="ctr"/>
            <a:r>
              <a:rPr lang="ar-JO" dirty="0"/>
              <a:t>حقوق الانسان في العصور القديمة</a:t>
            </a:r>
            <a:endParaRPr lang="en-US" dirty="0"/>
          </a:p>
        </p:txBody>
      </p:sp>
    </p:spTree>
    <p:extLst>
      <p:ext uri="{BB962C8B-B14F-4D97-AF65-F5344CB8AC3E}">
        <p14:creationId xmlns:p14="http://schemas.microsoft.com/office/powerpoint/2010/main" val="553962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r" rtl="1"/>
            <a:r>
              <a:rPr lang="ar-JO" dirty="0"/>
              <a:t>تتميز بظهور الاسلام في أوائل القرن السابع الميلادي والذي نص على:</a:t>
            </a:r>
          </a:p>
          <a:p>
            <a:pPr algn="r" rtl="1"/>
            <a:r>
              <a:rPr lang="ar-JO" dirty="0"/>
              <a:t> المساواة بين الناس، </a:t>
            </a:r>
          </a:p>
          <a:p>
            <a:pPr algn="r" rtl="1"/>
            <a:r>
              <a:rPr lang="ar-JO" dirty="0"/>
              <a:t>والحد من ظاهرة الرق، </a:t>
            </a:r>
          </a:p>
          <a:p>
            <a:pPr algn="r" rtl="1"/>
            <a:r>
              <a:rPr lang="ar-JO" dirty="0"/>
              <a:t>وإعلاء شأن المرأة وصون كرامتها، </a:t>
            </a:r>
          </a:p>
          <a:p>
            <a:pPr algn="r" rtl="1"/>
            <a:r>
              <a:rPr lang="ar-JO" dirty="0"/>
              <a:t>والتكافل الاجتماعي، </a:t>
            </a:r>
          </a:p>
          <a:p>
            <a:pPr algn="r" rtl="1"/>
            <a:r>
              <a:rPr lang="ar-JO" dirty="0"/>
              <a:t>والحق في التملك،</a:t>
            </a:r>
          </a:p>
          <a:p>
            <a:pPr algn="r" rtl="1"/>
            <a:r>
              <a:rPr lang="ar-JO" dirty="0"/>
              <a:t>والشورى،</a:t>
            </a:r>
          </a:p>
          <a:p>
            <a:pPr algn="r" rtl="1"/>
            <a:r>
              <a:rPr lang="ar-JO" dirty="0"/>
              <a:t>والعدل حتى مع الأعداء، وعدم الغدر في الحروب، ومنع قتل النساء وكبار السن والأطفال.</a:t>
            </a:r>
          </a:p>
          <a:p>
            <a:pPr algn="r" rtl="1"/>
            <a:r>
              <a:rPr lang="ar-JO" dirty="0"/>
              <a:t>إقرار حقوق الانسان في القرآن والسنة </a:t>
            </a:r>
            <a:endParaRPr lang="en-US" dirty="0"/>
          </a:p>
        </p:txBody>
      </p:sp>
      <p:sp>
        <p:nvSpPr>
          <p:cNvPr id="2" name="Title 1"/>
          <p:cNvSpPr>
            <a:spLocks noGrp="1"/>
          </p:cNvSpPr>
          <p:nvPr>
            <p:ph type="title"/>
          </p:nvPr>
        </p:nvSpPr>
        <p:spPr/>
        <p:txBody>
          <a:bodyPr/>
          <a:lstStyle/>
          <a:p>
            <a:pPr algn="ctr"/>
            <a:r>
              <a:rPr lang="ar-JO" dirty="0"/>
              <a:t>حقوق الانسان في العصور الوسطى</a:t>
            </a:r>
            <a:endParaRPr lang="en-US" dirty="0"/>
          </a:p>
        </p:txBody>
      </p:sp>
    </p:spTree>
    <p:extLst>
      <p:ext uri="{BB962C8B-B14F-4D97-AF65-F5344CB8AC3E}">
        <p14:creationId xmlns:p14="http://schemas.microsoft.com/office/powerpoint/2010/main" val="1310668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في أوروبا:</a:t>
            </a:r>
          </a:p>
          <a:p>
            <a:pPr algn="just" rtl="1"/>
            <a:r>
              <a:rPr lang="ar-JO" dirty="0"/>
              <a:t>كان الصراع محتدما بين الامبراطورية والكنيسة</a:t>
            </a:r>
          </a:p>
          <a:p>
            <a:pPr algn="just" rtl="1"/>
            <a:r>
              <a:rPr lang="ar-JO" dirty="0"/>
              <a:t>اتسع نظام الإقطاع</a:t>
            </a:r>
          </a:p>
          <a:p>
            <a:pPr algn="just" rtl="1"/>
            <a:r>
              <a:rPr lang="ar-JO" dirty="0">
                <a:solidFill>
                  <a:srgbClr val="FF0000"/>
                </a:solidFill>
              </a:rPr>
              <a:t>انتشر عدم التسامح الديني وظهر ما يعرف بم</a:t>
            </a:r>
            <a:r>
              <a:rPr lang="ar-SA" dirty="0">
                <a:solidFill>
                  <a:srgbClr val="FF0000"/>
                </a:solidFill>
              </a:rPr>
              <a:t>ح</a:t>
            </a:r>
            <a:r>
              <a:rPr lang="ar-JO" dirty="0">
                <a:solidFill>
                  <a:srgbClr val="FF0000"/>
                </a:solidFill>
              </a:rPr>
              <a:t>اكم التفتيش</a:t>
            </a:r>
          </a:p>
          <a:p>
            <a:pPr algn="just" rtl="1"/>
            <a:r>
              <a:rPr lang="ar-JO" dirty="0"/>
              <a:t>صدر العهد الأعظم (الماجناكارتا) 1215: حيث ثار الشعب الانجليزي ضد الملك جون في القرن الثالث عشر، وتم انتزاع بعض الحقوق.</a:t>
            </a:r>
            <a:endParaRPr lang="en-US" dirty="0"/>
          </a:p>
        </p:txBody>
      </p:sp>
      <p:sp>
        <p:nvSpPr>
          <p:cNvPr id="2" name="Title 1"/>
          <p:cNvSpPr>
            <a:spLocks noGrp="1"/>
          </p:cNvSpPr>
          <p:nvPr>
            <p:ph type="title"/>
          </p:nvPr>
        </p:nvSpPr>
        <p:spPr/>
        <p:txBody>
          <a:bodyPr/>
          <a:lstStyle/>
          <a:p>
            <a:pPr algn="ctr"/>
            <a:r>
              <a:rPr lang="ar-JO" dirty="0"/>
              <a:t>حقوق الانسان في العصور الوسطى</a:t>
            </a:r>
            <a:endParaRPr lang="en-US" dirty="0"/>
          </a:p>
        </p:txBody>
      </p:sp>
    </p:spTree>
    <p:extLst>
      <p:ext uri="{BB962C8B-B14F-4D97-AF65-F5344CB8AC3E}">
        <p14:creationId xmlns:p14="http://schemas.microsoft.com/office/powerpoint/2010/main" val="863464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مع نشأة الدول الأوروبية في شكلها الحديث في القرن 17</a:t>
            </a:r>
          </a:p>
          <a:p>
            <a:pPr algn="r" rtl="1"/>
            <a:r>
              <a:rPr lang="ar-JO" dirty="0"/>
              <a:t>احتاجت تنظيم العلاقات بداخلها، وفيما بينها</a:t>
            </a:r>
          </a:p>
          <a:p>
            <a:pPr algn="r" rtl="1"/>
            <a:r>
              <a:rPr lang="ar-JO" dirty="0"/>
              <a:t>نادى المفكرون بالرجوع للقانون الطبيعي (ثابت، مرتبط بالعدالة/دين): يقر للانسان بحقوق طبيعية سابقة على الدول، ولا يجوز للسلطات أن تعتدي على حقوق الانسان التي لا تستند الى قانون أو عرف أو تقاليد أو دين.</a:t>
            </a:r>
          </a:p>
          <a:p>
            <a:pPr algn="r" rtl="1"/>
            <a:r>
              <a:rPr lang="ar-JO" dirty="0"/>
              <a:t>نشأت نظرية «العقد الاجتماعي»: افتراض، ابرام عقد اجتماعي تنشأ بمقتضاه السلطة الحاكمة.</a:t>
            </a:r>
            <a:endParaRPr lang="en-US" dirty="0"/>
          </a:p>
        </p:txBody>
      </p:sp>
      <p:sp>
        <p:nvSpPr>
          <p:cNvPr id="2" name="Title 1"/>
          <p:cNvSpPr>
            <a:spLocks noGrp="1"/>
          </p:cNvSpPr>
          <p:nvPr>
            <p:ph type="title"/>
          </p:nvPr>
        </p:nvSpPr>
        <p:spPr/>
        <p:txBody>
          <a:bodyPr/>
          <a:lstStyle/>
          <a:p>
            <a:pPr algn="ctr"/>
            <a:r>
              <a:rPr lang="ar-JO" dirty="0"/>
              <a:t>حقوق الانسان في العصر الحديث</a:t>
            </a:r>
            <a:endParaRPr lang="en-US" dirty="0"/>
          </a:p>
        </p:txBody>
      </p:sp>
    </p:spTree>
    <p:extLst>
      <p:ext uri="{BB962C8B-B14F-4D97-AF65-F5344CB8AC3E}">
        <p14:creationId xmlns:p14="http://schemas.microsoft.com/office/powerpoint/2010/main" val="2918829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0"/>
            <a:ext cx="8382000" cy="5059362"/>
          </a:xfrm>
        </p:spPr>
        <p:txBody>
          <a:bodyPr>
            <a:normAutofit/>
          </a:bodyPr>
          <a:lstStyle/>
          <a:p>
            <a:pPr algn="just" rtl="1"/>
            <a:r>
              <a:rPr lang="ar-JO" dirty="0"/>
              <a:t>في ظل الصراع بين الحاكم والشعب، تم</a:t>
            </a:r>
            <a:r>
              <a:rPr lang="ar-SA" dirty="0"/>
              <a:t> </a:t>
            </a:r>
            <a:r>
              <a:rPr lang="ar-JO" dirty="0"/>
              <a:t>صدور اعلانات للحقوق لمواجهة استبداد وطغيان الملوك والحكام والحد من سلطاتهم، واطلاق حرية الفرد.</a:t>
            </a:r>
            <a:endParaRPr lang="ar-SA" dirty="0"/>
          </a:p>
          <a:p>
            <a:pPr marL="109728" indent="0" algn="just" rtl="1">
              <a:buNone/>
            </a:pPr>
            <a:r>
              <a:rPr lang="ar-JO" u="sng" dirty="0">
                <a:solidFill>
                  <a:schemeClr val="accent3">
                    <a:lumMod val="75000"/>
                  </a:schemeClr>
                </a:solidFill>
                <a:effectLst>
                  <a:outerShdw blurRad="38100" dist="38100" dir="2700000" algn="tl">
                    <a:srgbClr val="000000">
                      <a:alpha val="43137"/>
                    </a:srgbClr>
                  </a:outerShdw>
                </a:effectLst>
              </a:rPr>
              <a:t>القواعد الطبيعية:</a:t>
            </a:r>
            <a:r>
              <a:rPr lang="ar-SA" u="sng" dirty="0">
                <a:solidFill>
                  <a:schemeClr val="accent3">
                    <a:lumMod val="75000"/>
                  </a:schemeClr>
                </a:solidFill>
                <a:effectLst>
                  <a:outerShdw blurRad="38100" dist="38100" dir="2700000" algn="tl">
                    <a:srgbClr val="000000">
                      <a:alpha val="43137"/>
                    </a:srgbClr>
                  </a:outerShdw>
                </a:effectLst>
              </a:rPr>
              <a:t> </a:t>
            </a:r>
          </a:p>
          <a:p>
            <a:pPr algn="just" rtl="1"/>
            <a:r>
              <a:rPr lang="ar-JO" dirty="0"/>
              <a:t>هي قواعد سرمدية يكتشفها الإنسان بالتأمل والتعقل والتفكير، </a:t>
            </a:r>
            <a:endParaRPr lang="ar-SA" dirty="0"/>
          </a:p>
          <a:p>
            <a:pPr algn="just" rtl="1"/>
            <a:r>
              <a:rPr lang="ar-SA" dirty="0"/>
              <a:t>يرتبط القانون الطبيعي بالعدل فتم الاعتماد عليه لمواجهة استبداد الملوك في أوروبا </a:t>
            </a:r>
          </a:p>
        </p:txBody>
      </p:sp>
      <p:sp>
        <p:nvSpPr>
          <p:cNvPr id="2" name="Title 1"/>
          <p:cNvSpPr>
            <a:spLocks noGrp="1"/>
          </p:cNvSpPr>
          <p:nvPr>
            <p:ph type="title"/>
          </p:nvPr>
        </p:nvSpPr>
        <p:spPr/>
        <p:txBody>
          <a:bodyPr>
            <a:normAutofit/>
          </a:bodyPr>
          <a:lstStyle/>
          <a:p>
            <a:pPr algn="r" rtl="1"/>
            <a:r>
              <a:rPr lang="ar-JO" sz="3600" dirty="0"/>
              <a:t>حقوق الانسان في العصر الحديث</a:t>
            </a:r>
            <a:r>
              <a:rPr lang="ar-SA" sz="3600" dirty="0"/>
              <a:t> – تكملة </a:t>
            </a:r>
            <a:endParaRPr lang="en-US" sz="3600" dirty="0"/>
          </a:p>
        </p:txBody>
      </p:sp>
    </p:spTree>
    <p:extLst>
      <p:ext uri="{BB962C8B-B14F-4D97-AF65-F5344CB8AC3E}">
        <p14:creationId xmlns:p14="http://schemas.microsoft.com/office/powerpoint/2010/main" val="4159654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5CBC31-D293-1689-07AF-E404DF35F14A}"/>
              </a:ext>
            </a:extLst>
          </p:cNvPr>
          <p:cNvSpPr>
            <a:spLocks noGrp="1"/>
          </p:cNvSpPr>
          <p:nvPr>
            <p:ph idx="1"/>
          </p:nvPr>
        </p:nvSpPr>
        <p:spPr>
          <a:xfrm>
            <a:off x="457200" y="1295400"/>
            <a:ext cx="8229600" cy="4711891"/>
          </a:xfrm>
        </p:spPr>
        <p:txBody>
          <a:bodyPr/>
          <a:lstStyle/>
          <a:p>
            <a:pPr algn="just" rtl="1"/>
            <a:r>
              <a:rPr lang="ar-JO" dirty="0"/>
              <a:t>وهكذا نشأت نظرية العقد الاجتماعي» لتعترف للفرد بوصفه إنسانا بحقوقه وحرياته الطبيعية المستمدة من طبيعته البشرية. وتقوم هذه النظرية على الافتراض؛ فهي ترى أن الأفراد كانوا يحيون على الطبيعة والفطرة، ويتمتعون بحرية كاملة</a:t>
            </a:r>
            <a:r>
              <a:rPr lang="ar-SA" dirty="0"/>
              <a:t>.</a:t>
            </a:r>
          </a:p>
          <a:p>
            <a:pPr algn="just" rtl="1"/>
            <a:endParaRPr lang="ar-JO" dirty="0"/>
          </a:p>
          <a:p>
            <a:pPr algn="just" rtl="1"/>
            <a:r>
              <a:rPr lang="ar-JO" dirty="0"/>
              <a:t>ورأي الفلاسفة والمفكرون </a:t>
            </a:r>
            <a:r>
              <a:rPr lang="ar-JO" u="sng" dirty="0">
                <a:solidFill>
                  <a:srgbClr val="7030A0"/>
                </a:solidFill>
              </a:rPr>
              <a:t>أن القانون الطبيعي </a:t>
            </a:r>
            <a:r>
              <a:rPr lang="ar-JO" dirty="0"/>
              <a:t>يُقر للإنسان بحقوق طبيعية سابقة على وجود الدولة ولهذا، لا يجوز لسلطات الدولة أن تعتدي على حقوق الإنسان التي لا تستند إلى قانون وضعي تصدرهالدولة. </a:t>
            </a:r>
          </a:p>
          <a:p>
            <a:endParaRPr lang="en-US" dirty="0"/>
          </a:p>
        </p:txBody>
      </p:sp>
      <p:sp>
        <p:nvSpPr>
          <p:cNvPr id="3" name="Title 2">
            <a:extLst>
              <a:ext uri="{FF2B5EF4-FFF2-40B4-BE49-F238E27FC236}">
                <a16:creationId xmlns:a16="http://schemas.microsoft.com/office/drawing/2014/main" id="{506881A6-9D4B-8230-6553-B0CD8D60038B}"/>
              </a:ext>
            </a:extLst>
          </p:cNvPr>
          <p:cNvSpPr>
            <a:spLocks noGrp="1"/>
          </p:cNvSpPr>
          <p:nvPr>
            <p:ph type="title"/>
          </p:nvPr>
        </p:nvSpPr>
        <p:spPr>
          <a:xfrm>
            <a:off x="457200" y="274638"/>
            <a:ext cx="8229600" cy="792162"/>
          </a:xfrm>
        </p:spPr>
        <p:txBody>
          <a:bodyPr>
            <a:normAutofit/>
          </a:bodyPr>
          <a:lstStyle/>
          <a:p>
            <a:pPr algn="r"/>
            <a:r>
              <a:rPr lang="ar-SA" sz="3200" dirty="0"/>
              <a:t>حقوق الإنسان في العصر الحديث – تكملة </a:t>
            </a:r>
            <a:endParaRPr lang="en-US" sz="3200" dirty="0"/>
          </a:p>
        </p:txBody>
      </p:sp>
    </p:spTree>
    <p:extLst>
      <p:ext uri="{BB962C8B-B14F-4D97-AF65-F5344CB8AC3E}">
        <p14:creationId xmlns:p14="http://schemas.microsoft.com/office/powerpoint/2010/main" val="3139723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61BFA7-194A-8F76-B3BE-C662983B3888}"/>
              </a:ext>
            </a:extLst>
          </p:cNvPr>
          <p:cNvSpPr>
            <a:spLocks noGrp="1"/>
          </p:cNvSpPr>
          <p:nvPr>
            <p:ph idx="1"/>
          </p:nvPr>
        </p:nvSpPr>
        <p:spPr/>
        <p:txBody>
          <a:bodyPr/>
          <a:lstStyle/>
          <a:p>
            <a:pPr algn="just" rtl="1"/>
            <a:r>
              <a:rPr lang="ar-JO" dirty="0"/>
              <a:t>إثر حرب الاستقلال التي خاضتها الولايات الامريكية ضد بريطانيا، صدر إعلان الاستقلال الأمريكي في 4 يوليو 1776 جاء فيه « ...ص</a:t>
            </a:r>
            <a:r>
              <a:rPr lang="ar-SA" dirty="0"/>
              <a:t>9</a:t>
            </a:r>
            <a:r>
              <a:rPr lang="ar-JO" dirty="0"/>
              <a:t>»</a:t>
            </a:r>
            <a:endParaRPr lang="ar-SA" dirty="0"/>
          </a:p>
          <a:p>
            <a:pPr marL="109728" indent="0" algn="just" rtl="1">
              <a:buNone/>
            </a:pPr>
            <a:endParaRPr lang="ar-JO" dirty="0"/>
          </a:p>
          <a:p>
            <a:pPr algn="just" rtl="1"/>
            <a:r>
              <a:rPr lang="ar-JO" dirty="0"/>
              <a:t>ونادت الثورة الفرنسية بالحقوق الطبيعية، ثم أصدرت الجمعية الوطنية الفرنسية إعلان حقوق الانسان والمواطن في 26 أغسطس 1789 ، م1 «...ص</a:t>
            </a:r>
            <a:r>
              <a:rPr lang="ar-SA" dirty="0"/>
              <a:t> 9-10</a:t>
            </a:r>
            <a:r>
              <a:rPr lang="ar-JO" dirty="0"/>
              <a:t>» ونقلت للمجال القانوني</a:t>
            </a:r>
          </a:p>
          <a:p>
            <a:pPr algn="just" rtl="1"/>
            <a:r>
              <a:rPr lang="ar-JO" dirty="0"/>
              <a:t>ظهر المذهب الفردي الذي يُقدس الفرد ويجعله إله نفسه، ويجعل وظيفة الدولة أن تكون حارسة للحريات دون أن تتدخل فيها..</a:t>
            </a:r>
            <a:endParaRPr lang="en-US" dirty="0"/>
          </a:p>
          <a:p>
            <a:pPr algn="r"/>
            <a:endParaRPr lang="en-US" dirty="0"/>
          </a:p>
        </p:txBody>
      </p:sp>
      <p:sp>
        <p:nvSpPr>
          <p:cNvPr id="3" name="Title 2">
            <a:extLst>
              <a:ext uri="{FF2B5EF4-FFF2-40B4-BE49-F238E27FC236}">
                <a16:creationId xmlns:a16="http://schemas.microsoft.com/office/drawing/2014/main" id="{FFF7246E-0223-93AE-EE70-B6D63D7D72E9}"/>
              </a:ext>
            </a:extLst>
          </p:cNvPr>
          <p:cNvSpPr>
            <a:spLocks noGrp="1"/>
          </p:cNvSpPr>
          <p:nvPr>
            <p:ph type="title"/>
          </p:nvPr>
        </p:nvSpPr>
        <p:spPr/>
        <p:txBody>
          <a:bodyPr>
            <a:normAutofit/>
          </a:bodyPr>
          <a:lstStyle/>
          <a:p>
            <a:pPr algn="r" rtl="1"/>
            <a:r>
              <a:rPr lang="ar-SA" sz="3600" dirty="0"/>
              <a:t>حقوق الإنسان في العصر الحديث – تكملة </a:t>
            </a:r>
            <a:endParaRPr lang="en-US" sz="3600" dirty="0"/>
          </a:p>
        </p:txBody>
      </p:sp>
    </p:spTree>
    <p:extLst>
      <p:ext uri="{BB962C8B-B14F-4D97-AF65-F5344CB8AC3E}">
        <p14:creationId xmlns:p14="http://schemas.microsoft.com/office/powerpoint/2010/main" val="736651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867400"/>
          </a:xfrm>
        </p:spPr>
        <p:txBody>
          <a:bodyPr>
            <a:normAutofit fontScale="92500"/>
          </a:bodyPr>
          <a:lstStyle/>
          <a:p>
            <a:pPr marL="109728" indent="0" algn="just" rtl="1">
              <a:buNone/>
            </a:pPr>
            <a:r>
              <a:rPr lang="ar-JO" sz="3000" b="1" dirty="0">
                <a:solidFill>
                  <a:schemeClr val="accent2"/>
                </a:solidFill>
              </a:rPr>
              <a:t>بدأ الاهتمام بحقوق الانسان على المستوى الدولي كالتالي:</a:t>
            </a:r>
            <a:endParaRPr lang="ar-SA" sz="3000" b="1" dirty="0">
              <a:solidFill>
                <a:schemeClr val="accent2"/>
              </a:solidFill>
            </a:endParaRPr>
          </a:p>
          <a:p>
            <a:pPr algn="just" rtl="1"/>
            <a:r>
              <a:rPr lang="ar-JO" dirty="0"/>
              <a:t>في القرن 17، تم الاعتراف بشرعية استخدام القوة من جانب دولة أو أكثر لايقاف</a:t>
            </a:r>
            <a:r>
              <a:rPr lang="ar-SA" dirty="0"/>
              <a:t> </a:t>
            </a:r>
            <a:r>
              <a:rPr lang="ar-JO" dirty="0"/>
              <a:t>الانتهاكات الجسيمة لحقوق الانسان من جانب دولة تجاه مواطنيها، ما يعرف </a:t>
            </a:r>
            <a:r>
              <a:rPr lang="ar-JO" dirty="0">
                <a:solidFill>
                  <a:srgbClr val="00B050"/>
                </a:solidFill>
              </a:rPr>
              <a:t>بالتدخل الانساني</a:t>
            </a:r>
          </a:p>
          <a:p>
            <a:pPr algn="just" rtl="1"/>
            <a:r>
              <a:rPr lang="ar-JO" dirty="0"/>
              <a:t>منذ القرن 17، كانت الأقليات محلا للعديد من الاتفاقيات الدولية لحمايتها، </a:t>
            </a:r>
            <a:endParaRPr lang="ar-SA" dirty="0"/>
          </a:p>
          <a:p>
            <a:pPr algn="just" rtl="1"/>
            <a:r>
              <a:rPr lang="ar-JO" dirty="0"/>
              <a:t>تم الاعتراف بمسؤولية الدولة عن الأضرار التي تحدث للأجانب؛ </a:t>
            </a:r>
            <a:r>
              <a:rPr lang="ar-SA" dirty="0"/>
              <a:t>و تم التعهد ب</a:t>
            </a:r>
            <a:r>
              <a:rPr lang="ar-JO" dirty="0"/>
              <a:t>العدالة والتحضر.. وعدم المصادرة للأموال والممتلكات.</a:t>
            </a:r>
          </a:p>
          <a:p>
            <a:pPr algn="just" rtl="1"/>
            <a:r>
              <a:rPr lang="ar-JO" dirty="0"/>
              <a:t>مع الثورة الصناعية وحلول الآلة مكان الانسان، عقدت الدول الاوروبية في القرن 19 اتفاقيات ومؤتمرات لتحريم الرق ومنع تجارة الرقيق.</a:t>
            </a:r>
          </a:p>
          <a:p>
            <a:pPr algn="just" rtl="1"/>
            <a:r>
              <a:rPr lang="ar-JO" dirty="0"/>
              <a:t>في القرن 19 صدرت مبادرات لاتفاقيات دولية لوضع قواعد انسانية معينة قابلة للتطبيق على سلوك الدول أثناء الحرب، للحد من المعاناة التي تسببها الحروب، وتنظيم معاملة الأسرى.. أدت الى توقيع اتفاقيات جنيف في 22 أأغسطس 1864، ثم اتفاقيات لاهاي  1899 و1907 لتنظيم الأعمال الحربية، وحقوق المحاربين والأسرى... </a:t>
            </a:r>
            <a:endParaRPr lang="en-US" dirty="0"/>
          </a:p>
        </p:txBody>
      </p:sp>
      <p:sp>
        <p:nvSpPr>
          <p:cNvPr id="2" name="Title 1"/>
          <p:cNvSpPr>
            <a:spLocks noGrp="1"/>
          </p:cNvSpPr>
          <p:nvPr>
            <p:ph type="title"/>
          </p:nvPr>
        </p:nvSpPr>
        <p:spPr>
          <a:xfrm>
            <a:off x="457200" y="274638"/>
            <a:ext cx="8229600" cy="487362"/>
          </a:xfrm>
        </p:spPr>
        <p:txBody>
          <a:bodyPr>
            <a:normAutofit fontScale="90000"/>
          </a:bodyPr>
          <a:lstStyle/>
          <a:p>
            <a:pPr algn="ctr" rtl="1"/>
            <a:r>
              <a:rPr lang="ar-JO" sz="3200" dirty="0"/>
              <a:t>حقوق الانسان في العصر الحديث</a:t>
            </a:r>
            <a:r>
              <a:rPr lang="ar-SA" sz="3200" dirty="0"/>
              <a:t>- تكملة </a:t>
            </a:r>
            <a:endParaRPr lang="en-US" sz="3200" dirty="0"/>
          </a:p>
        </p:txBody>
      </p:sp>
    </p:spTree>
    <p:extLst>
      <p:ext uri="{BB962C8B-B14F-4D97-AF65-F5344CB8AC3E}">
        <p14:creationId xmlns:p14="http://schemas.microsoft.com/office/powerpoint/2010/main" val="3677234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rtl="1">
              <a:buNone/>
            </a:pPr>
            <a:r>
              <a:rPr lang="ar-JO" dirty="0"/>
              <a:t>تساؤلات</a:t>
            </a:r>
          </a:p>
          <a:p>
            <a:pPr algn="r" rtl="1"/>
            <a:r>
              <a:rPr lang="ar-JO" dirty="0"/>
              <a:t>من الذي يمنح حقوق الإنسان؟</a:t>
            </a:r>
          </a:p>
          <a:p>
            <a:pPr algn="r" rtl="1"/>
            <a:r>
              <a:rPr lang="ar-JO" dirty="0"/>
              <a:t>من أين تستمد حقوق الانسان؟</a:t>
            </a:r>
          </a:p>
          <a:p>
            <a:pPr algn="r" rtl="1"/>
            <a:r>
              <a:rPr lang="ar-JO" dirty="0"/>
              <a:t>من الذي يقرر أن هذا «حق» من حقوق الانسان؟</a:t>
            </a:r>
          </a:p>
          <a:p>
            <a:pPr algn="r" rtl="1"/>
            <a:r>
              <a:rPr lang="ar-JO" dirty="0"/>
              <a:t>الطلاق</a:t>
            </a:r>
          </a:p>
          <a:p>
            <a:pPr algn="r" rtl="1"/>
            <a:r>
              <a:rPr lang="ar-JO" dirty="0"/>
              <a:t>العقوبات البدنية كالجلد؟</a:t>
            </a:r>
            <a:endParaRPr lang="en-US" dirty="0"/>
          </a:p>
        </p:txBody>
      </p:sp>
      <p:sp>
        <p:nvSpPr>
          <p:cNvPr id="2" name="Title 1"/>
          <p:cNvSpPr>
            <a:spLocks noGrp="1"/>
          </p:cNvSpPr>
          <p:nvPr>
            <p:ph type="title"/>
          </p:nvPr>
        </p:nvSpPr>
        <p:spPr/>
        <p:txBody>
          <a:bodyPr/>
          <a:lstStyle/>
          <a:p>
            <a:pPr algn="ctr"/>
            <a:r>
              <a:rPr lang="ar-JO" dirty="0"/>
              <a:t>مصدر حقوق الإنسان</a:t>
            </a:r>
            <a:endParaRPr lang="en-US" dirty="0"/>
          </a:p>
        </p:txBody>
      </p:sp>
    </p:spTree>
    <p:extLst>
      <p:ext uri="{BB962C8B-B14F-4D97-AF65-F5344CB8AC3E}">
        <p14:creationId xmlns:p14="http://schemas.microsoft.com/office/powerpoint/2010/main" val="2054839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endParaRPr lang="ar-JO" dirty="0"/>
          </a:p>
          <a:p>
            <a:pPr algn="r" rtl="1"/>
            <a:r>
              <a:rPr lang="ar-JO" dirty="0"/>
              <a:t>مصدر حقوق الانسان في الاسلام</a:t>
            </a:r>
          </a:p>
          <a:p>
            <a:pPr algn="r" rtl="1"/>
            <a:endParaRPr lang="ar-JO" dirty="0"/>
          </a:p>
          <a:p>
            <a:pPr algn="r" rtl="1"/>
            <a:r>
              <a:rPr lang="ar-JO" dirty="0"/>
              <a:t>مصدر حقوق الانسان في الفكر الغربي</a:t>
            </a:r>
            <a:endParaRPr lang="en-US" dirty="0"/>
          </a:p>
        </p:txBody>
      </p:sp>
      <p:sp>
        <p:nvSpPr>
          <p:cNvPr id="2" name="Title 1"/>
          <p:cNvSpPr>
            <a:spLocks noGrp="1"/>
          </p:cNvSpPr>
          <p:nvPr>
            <p:ph type="title"/>
          </p:nvPr>
        </p:nvSpPr>
        <p:spPr/>
        <p:txBody>
          <a:bodyPr/>
          <a:lstStyle/>
          <a:p>
            <a:pPr algn="ctr"/>
            <a:r>
              <a:rPr lang="ar-JO" dirty="0"/>
              <a:t>مصدر حقوق الانسان</a:t>
            </a:r>
            <a:endParaRPr lang="en-US" dirty="0"/>
          </a:p>
        </p:txBody>
      </p:sp>
    </p:spTree>
    <p:extLst>
      <p:ext uri="{BB962C8B-B14F-4D97-AF65-F5344CB8AC3E}">
        <p14:creationId xmlns:p14="http://schemas.microsoft.com/office/powerpoint/2010/main" val="3938994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الشريعة الاسلامية (القرآن والسنة والاجتهاد)</a:t>
            </a:r>
          </a:p>
          <a:p>
            <a:pPr algn="r" rtl="1"/>
            <a:r>
              <a:rPr lang="ar-JO" dirty="0"/>
              <a:t>بعض الحقوق ثابت – والبعض يقبل الاجتهاد</a:t>
            </a:r>
            <a:endParaRPr lang="en-US" dirty="0"/>
          </a:p>
        </p:txBody>
      </p:sp>
      <p:sp>
        <p:nvSpPr>
          <p:cNvPr id="2" name="Title 1"/>
          <p:cNvSpPr>
            <a:spLocks noGrp="1"/>
          </p:cNvSpPr>
          <p:nvPr>
            <p:ph type="title"/>
          </p:nvPr>
        </p:nvSpPr>
        <p:spPr/>
        <p:txBody>
          <a:bodyPr/>
          <a:lstStyle/>
          <a:p>
            <a:pPr algn="ctr"/>
            <a:r>
              <a:rPr lang="ar-JO" dirty="0"/>
              <a:t>مصدر حقوق الانسان في الاسلام</a:t>
            </a:r>
            <a:endParaRPr lang="en-US" dirty="0"/>
          </a:p>
        </p:txBody>
      </p:sp>
    </p:spTree>
    <p:extLst>
      <p:ext uri="{BB962C8B-B14F-4D97-AF65-F5344CB8AC3E}">
        <p14:creationId xmlns:p14="http://schemas.microsoft.com/office/powerpoint/2010/main" val="388795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r" rtl="1"/>
            <a:r>
              <a:rPr lang="ar-SA" dirty="0"/>
              <a:t>مصدر حقوق الإنسان في الفكر الغربي هو: </a:t>
            </a:r>
            <a:r>
              <a:rPr lang="ar-SA" b="1" dirty="0">
                <a:solidFill>
                  <a:schemeClr val="accent3">
                    <a:lumMod val="75000"/>
                  </a:schemeClr>
                </a:solidFill>
              </a:rPr>
              <a:t>القانون الطبيعي </a:t>
            </a:r>
            <a:endParaRPr lang="ar-JO" b="1" dirty="0">
              <a:solidFill>
                <a:schemeClr val="accent3">
                  <a:lumMod val="75000"/>
                </a:schemeClr>
              </a:solidFill>
            </a:endParaRPr>
          </a:p>
          <a:p>
            <a:pPr algn="r" rtl="1"/>
            <a:r>
              <a:rPr lang="ar-JO" dirty="0"/>
              <a:t>القانون الطبيعي: مجموعة قواعد عامة تسري في كل زمان ومكان، وهي مستمدة من الطبيعة، وتمثل المثل الأعلى للعدل، ويستخلصها الانسان بالعقل_ لا يوجدها </a:t>
            </a:r>
            <a:r>
              <a:rPr lang="ar-SA" dirty="0"/>
              <a:t>من العدم، </a:t>
            </a:r>
            <a:r>
              <a:rPr lang="ar-JO" dirty="0"/>
              <a:t>بل يكتشفها</a:t>
            </a:r>
            <a:endParaRPr lang="ar-SA" dirty="0"/>
          </a:p>
          <a:p>
            <a:pPr algn="r" rtl="1"/>
            <a:r>
              <a:rPr lang="ar-SA" dirty="0"/>
              <a:t>وتؤكد الصيغة الجديدة على الفرد والحرية والعقل، </a:t>
            </a:r>
            <a:r>
              <a:rPr lang="ar-SA" u="sng" dirty="0">
                <a:solidFill>
                  <a:schemeClr val="accent2"/>
                </a:solidFill>
              </a:rPr>
              <a:t>لمواجهة:</a:t>
            </a:r>
          </a:p>
          <a:p>
            <a:pPr marL="109728" indent="0" algn="ctr" rtl="1">
              <a:buNone/>
            </a:pPr>
            <a:r>
              <a:rPr lang="ar-SA" dirty="0">
                <a:effectLst>
                  <a:outerShdw blurRad="38100" dist="38100" dir="2700000" algn="tl">
                    <a:srgbClr val="000000">
                      <a:alpha val="43137"/>
                    </a:srgbClr>
                  </a:outerShdw>
                </a:effectLst>
              </a:rPr>
              <a:t>الطبقية والحكم المطلق والسلطة الدينية</a:t>
            </a:r>
          </a:p>
          <a:p>
            <a:pPr marL="109728" indent="0" algn="ctr" rtl="1">
              <a:buNone/>
            </a:pPr>
            <a:r>
              <a:rPr lang="ar-JO" dirty="0"/>
              <a:t>حقوق عقلانية: أي تستند على ما يراه العقل</a:t>
            </a:r>
          </a:p>
          <a:p>
            <a:pPr algn="r" rtl="1"/>
            <a:r>
              <a:rPr lang="ar-JO" dirty="0"/>
              <a:t>م (1) من الاعلان العالمي لحقوق الانسان «</a:t>
            </a:r>
            <a:r>
              <a:rPr lang="ar-SA" b="0" i="0" dirty="0">
                <a:solidFill>
                  <a:srgbClr val="070707"/>
                </a:solidFill>
                <a:effectLst/>
                <a:latin typeface="Droid Arabic Naskh"/>
              </a:rPr>
              <a:t>يولد جميع الناس أحراراً ومتساوين في الكرامة والحقوق. وهم قد وهبوا العقل والوجدان وعليهم أن يعاملوا بعضهم بعضاً بروح الإخاء</a:t>
            </a:r>
            <a:r>
              <a:rPr lang="ar-JO" dirty="0"/>
              <a:t>» </a:t>
            </a:r>
            <a:endParaRPr lang="ar-SA" dirty="0"/>
          </a:p>
          <a:p>
            <a:pPr algn="ctr" rtl="1"/>
            <a:r>
              <a:rPr lang="ar-JO" dirty="0">
                <a:solidFill>
                  <a:srgbClr val="00B050"/>
                </a:solidFill>
              </a:rPr>
              <a:t>لم تحدد مصدر حقوق الانسان</a:t>
            </a:r>
            <a:endParaRPr lang="en-US" dirty="0">
              <a:solidFill>
                <a:srgbClr val="00B050"/>
              </a:solidFill>
            </a:endParaRPr>
          </a:p>
        </p:txBody>
      </p:sp>
      <p:sp>
        <p:nvSpPr>
          <p:cNvPr id="2" name="Title 1"/>
          <p:cNvSpPr>
            <a:spLocks noGrp="1"/>
          </p:cNvSpPr>
          <p:nvPr>
            <p:ph type="title"/>
          </p:nvPr>
        </p:nvSpPr>
        <p:spPr/>
        <p:txBody>
          <a:bodyPr/>
          <a:lstStyle/>
          <a:p>
            <a:pPr algn="ctr"/>
            <a:r>
              <a:rPr lang="ar-JO" dirty="0"/>
              <a:t>مصدر حقوق الانسان في الفكر الغربي</a:t>
            </a:r>
            <a:endParaRPr lang="en-US" dirty="0"/>
          </a:p>
        </p:txBody>
      </p:sp>
    </p:spTree>
    <p:extLst>
      <p:ext uri="{BB962C8B-B14F-4D97-AF65-F5344CB8AC3E}">
        <p14:creationId xmlns:p14="http://schemas.microsoft.com/office/powerpoint/2010/main" val="3631561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endParaRPr lang="ar-JO" dirty="0"/>
          </a:p>
          <a:p>
            <a:pPr algn="r" rtl="1"/>
            <a:r>
              <a:rPr lang="ar-JO" dirty="0"/>
              <a:t>على المستوى الداخلي: تهتم الدولة بالنص على حقوق الانسان في دستورها وقوانينها الداخلية.</a:t>
            </a:r>
          </a:p>
          <a:p>
            <a:pPr algn="r" rtl="1"/>
            <a:endParaRPr lang="ar-JO" dirty="0"/>
          </a:p>
          <a:p>
            <a:pPr algn="r" rtl="1"/>
            <a:r>
              <a:rPr lang="ar-JO" dirty="0"/>
              <a:t>على المستوى الدولي: من خلال الجهود الدولية المختلفة لتعزيز وحماية حقوق الانسان.</a:t>
            </a:r>
            <a:endParaRPr lang="en-US" dirty="0"/>
          </a:p>
        </p:txBody>
      </p:sp>
      <p:sp>
        <p:nvSpPr>
          <p:cNvPr id="2" name="Title 1"/>
          <p:cNvSpPr>
            <a:spLocks noGrp="1"/>
          </p:cNvSpPr>
          <p:nvPr>
            <p:ph type="title"/>
          </p:nvPr>
        </p:nvSpPr>
        <p:spPr/>
        <p:txBody>
          <a:bodyPr/>
          <a:lstStyle/>
          <a:p>
            <a:pPr algn="ctr"/>
            <a:r>
              <a:rPr lang="ar-JO" dirty="0"/>
              <a:t>الاهتمام المعاصر بحقوق الانسان</a:t>
            </a:r>
            <a:endParaRPr lang="en-US" dirty="0"/>
          </a:p>
        </p:txBody>
      </p:sp>
    </p:spTree>
    <p:extLst>
      <p:ext uri="{BB962C8B-B14F-4D97-AF65-F5344CB8AC3E}">
        <p14:creationId xmlns:p14="http://schemas.microsoft.com/office/powerpoint/2010/main" val="3685727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rtl="1"/>
            <a:r>
              <a:rPr lang="ar-JO" dirty="0"/>
              <a:t>الدساتير :تحرص على ان تخصص فيها قسما للنص على حقوق الانسان وحرياته الأساسية.</a:t>
            </a:r>
          </a:p>
          <a:p>
            <a:pPr algn="just" rtl="1"/>
            <a:r>
              <a:rPr lang="ar-JO" dirty="0"/>
              <a:t>لغرض منح حقوق الانسان مكانة أساسية في النظام القانوني للدولة، بحيث ان الاعتداء على حقوق الانسان يعد اعتداء على الدستور، ما يستوجب تدخل السلطات للحد منه.</a:t>
            </a:r>
          </a:p>
          <a:p>
            <a:pPr algn="just" rtl="1"/>
            <a:r>
              <a:rPr lang="ar-JO" dirty="0"/>
              <a:t>دستور الامارات لعام 1971: م (10) من أهداف الاتحاد: حماية حقوق وحريات شعب الاتحاد، وخصص البابين 2و3 لحقوق الانسان.</a:t>
            </a:r>
          </a:p>
          <a:p>
            <a:pPr algn="just" rtl="1"/>
            <a:r>
              <a:rPr lang="ar-JO" dirty="0"/>
              <a:t>القوانين: تضع ضمانات موضوعية وإجرائية لحماية حقوق الانسان.</a:t>
            </a:r>
            <a:endParaRPr lang="ar-SA" dirty="0"/>
          </a:p>
          <a:p>
            <a:pPr algn="just" rtl="1"/>
            <a:r>
              <a:rPr lang="ar-SA" dirty="0"/>
              <a:t>بالإضافة </a:t>
            </a:r>
            <a:r>
              <a:rPr lang="ar-SA" dirty="0">
                <a:effectLst>
                  <a:outerShdw blurRad="38100" dist="38100" dir="2700000" algn="tl">
                    <a:srgbClr val="000000">
                      <a:alpha val="43137"/>
                    </a:srgbClr>
                  </a:outerShdw>
                </a:effectLst>
              </a:rPr>
              <a:t>للحماية الداخلية </a:t>
            </a:r>
            <a:r>
              <a:rPr lang="ar-SA" dirty="0"/>
              <a:t>لحقوق الإنسان، </a:t>
            </a:r>
            <a:r>
              <a:rPr lang="ar-SA" dirty="0">
                <a:effectLst>
                  <a:outerShdw blurRad="38100" dist="38100" dir="2700000" algn="tl">
                    <a:srgbClr val="000000">
                      <a:alpha val="43137"/>
                    </a:srgbClr>
                  </a:outerShdw>
                </a:effectLst>
              </a:rPr>
              <a:t>توجد جهود دولية </a:t>
            </a:r>
            <a:r>
              <a:rPr lang="ar-SA" dirty="0"/>
              <a:t>لتعزيز التمتع بحقوق الإنسان، لكنها ليست بديلا عن الجهود الوطنية (الداخلية) </a:t>
            </a:r>
          </a:p>
          <a:p>
            <a:pPr algn="just" rtl="1"/>
            <a:r>
              <a:rPr lang="ar-SA" dirty="0"/>
              <a:t>بل هي مكملة لها في حماية حقوق الإنسان وتعزيزها. </a:t>
            </a:r>
            <a:endParaRPr lang="en-US" dirty="0"/>
          </a:p>
        </p:txBody>
      </p:sp>
      <p:sp>
        <p:nvSpPr>
          <p:cNvPr id="2" name="Title 1"/>
          <p:cNvSpPr>
            <a:spLocks noGrp="1"/>
          </p:cNvSpPr>
          <p:nvPr>
            <p:ph type="title"/>
          </p:nvPr>
        </p:nvSpPr>
        <p:spPr/>
        <p:txBody>
          <a:bodyPr/>
          <a:lstStyle/>
          <a:p>
            <a:pPr algn="ctr"/>
            <a:r>
              <a:rPr lang="ar-JO" dirty="0"/>
              <a:t>حقوق الانسان في الدساتير والقوانين</a:t>
            </a:r>
            <a:endParaRPr lang="en-US" dirty="0"/>
          </a:p>
        </p:txBody>
      </p:sp>
    </p:spTree>
    <p:extLst>
      <p:ext uri="{BB962C8B-B14F-4D97-AF65-F5344CB8AC3E}">
        <p14:creationId xmlns:p14="http://schemas.microsoft.com/office/powerpoint/2010/main" val="1919496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4767072"/>
          </a:xfrm>
        </p:spPr>
        <p:txBody>
          <a:bodyPr>
            <a:normAutofit lnSpcReduction="10000"/>
          </a:bodyPr>
          <a:lstStyle/>
          <a:p>
            <a:pPr algn="just" rtl="1"/>
            <a:r>
              <a:rPr lang="ar-JO" dirty="0"/>
              <a:t>نتيجة للأهوال والجرائم التي حدثت بين الدول الاوروبية في الحربين العالميتين، ساد الاعتقاد بأن الحماية الدولية الفعالة لحقوق الانسان هي أحد الشروط الأساسية لتحقيق السلم والأمن الدوليين. </a:t>
            </a:r>
            <a:endParaRPr lang="ar-SA" dirty="0"/>
          </a:p>
          <a:p>
            <a:pPr algn="just" rtl="1"/>
            <a:r>
              <a:rPr lang="ar-SA" dirty="0"/>
              <a:t>و من الجهود الدولية: </a:t>
            </a:r>
            <a:r>
              <a:rPr lang="ar-JO" dirty="0"/>
              <a:t>تنظيم المؤتمرات الدولية؛ وانشاء المؤسسات؛ وعمل الدراسات والأبحاث؛ وإصدار الاعلانات والمواثيق الدولية    لحقوق الانسان.</a:t>
            </a:r>
          </a:p>
          <a:p>
            <a:pPr algn="just" rtl="1"/>
            <a:r>
              <a:rPr lang="ar-JO" dirty="0"/>
              <a:t>ويعد ابرام المواثيق الدولية من أهم اجراءات التعزيز للالتزام</a:t>
            </a:r>
          </a:p>
          <a:p>
            <a:pPr algn="just" rtl="1"/>
            <a:r>
              <a:rPr lang="ar-JO" dirty="0"/>
              <a:t>وتم بالفعل وضع العديد من المواثيق الدولية لحقوق الانسان في إطار المنظمات الدولية العالمية (كالأمم المتحدة ومنظمة العمل الدولية واليونسكو) والإقليمية (كمجلس أوروبا ومنظمة الدول الأمريكية والاتحاد الافريقي وجامعة الدول العربية والتعاون الاسلامي).</a:t>
            </a:r>
          </a:p>
          <a:p>
            <a:pPr algn="just" rtl="1"/>
            <a:endParaRPr lang="en-US" dirty="0"/>
          </a:p>
        </p:txBody>
      </p:sp>
      <p:sp>
        <p:nvSpPr>
          <p:cNvPr id="2" name="Title 1"/>
          <p:cNvSpPr>
            <a:spLocks noGrp="1"/>
          </p:cNvSpPr>
          <p:nvPr>
            <p:ph type="title"/>
          </p:nvPr>
        </p:nvSpPr>
        <p:spPr/>
        <p:txBody>
          <a:bodyPr/>
          <a:lstStyle/>
          <a:p>
            <a:r>
              <a:rPr lang="ar-JO" dirty="0"/>
              <a:t>الجهود الدولية لتعزيز وحماية حقوق الانسان</a:t>
            </a:r>
            <a:endParaRPr lang="en-US" dirty="0"/>
          </a:p>
        </p:txBody>
      </p:sp>
    </p:spTree>
    <p:extLst>
      <p:ext uri="{BB962C8B-B14F-4D97-AF65-F5344CB8AC3E}">
        <p14:creationId xmlns:p14="http://schemas.microsoft.com/office/powerpoint/2010/main" val="2706090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rtl="1">
              <a:buNone/>
            </a:pPr>
            <a:r>
              <a:rPr lang="ar-JO" dirty="0"/>
              <a:t>المقصود بالمواثيق الدولية لحقوق الانسان</a:t>
            </a:r>
          </a:p>
          <a:p>
            <a:pPr marL="0" indent="0" algn="ctr" rtl="1">
              <a:buNone/>
            </a:pPr>
            <a:endParaRPr lang="ar-JO" dirty="0"/>
          </a:p>
          <a:p>
            <a:pPr algn="just" rtl="1"/>
            <a:r>
              <a:rPr lang="ar-JO" dirty="0"/>
              <a:t>هي معاهدات، تُعقد بين الدول، بهدف تعزيز، أو حماية، واحد أو أكثر من حقوق الإنسان والحريات الأساسية.</a:t>
            </a:r>
          </a:p>
          <a:p>
            <a:pPr marL="0" indent="0" algn="just" rtl="1">
              <a:buNone/>
            </a:pPr>
            <a:endParaRPr lang="ar-JO" dirty="0"/>
          </a:p>
          <a:p>
            <a:pPr algn="just" rtl="1"/>
            <a:r>
              <a:rPr lang="ar-JO" dirty="0"/>
              <a:t>وعادة ما تسمى هذه المعاهدات بالمواثيق أو بالاتفاقيات.</a:t>
            </a:r>
            <a:endParaRPr lang="en-US" dirty="0"/>
          </a:p>
        </p:txBody>
      </p:sp>
      <p:sp>
        <p:nvSpPr>
          <p:cNvPr id="2" name="Title 1"/>
          <p:cNvSpPr>
            <a:spLocks noGrp="1"/>
          </p:cNvSpPr>
          <p:nvPr>
            <p:ph type="title"/>
          </p:nvPr>
        </p:nvSpPr>
        <p:spPr/>
        <p:txBody>
          <a:bodyPr>
            <a:normAutofit fontScale="90000"/>
          </a:bodyPr>
          <a:lstStyle/>
          <a:p>
            <a:r>
              <a:rPr lang="ar-JO" dirty="0"/>
              <a:t>ثانيا: تعريف عام بالمواثيق الدولية لحقوق الانسان</a:t>
            </a:r>
            <a:endParaRPr lang="en-US" dirty="0"/>
          </a:p>
        </p:txBody>
      </p:sp>
    </p:spTree>
    <p:extLst>
      <p:ext uri="{BB962C8B-B14F-4D97-AF65-F5344CB8AC3E}">
        <p14:creationId xmlns:p14="http://schemas.microsoft.com/office/powerpoint/2010/main" val="1747626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rtl="1"/>
            <a:r>
              <a:rPr lang="ar-JO" dirty="0"/>
              <a:t>لا يوجد إجراء موحد وثابت لاعدادها</a:t>
            </a:r>
          </a:p>
          <a:p>
            <a:pPr algn="just" rtl="1"/>
            <a:r>
              <a:rPr lang="ar-JO" dirty="0"/>
              <a:t>الاجراء الغالب هو اعدادها في احدى المنظمات الدولية</a:t>
            </a:r>
          </a:p>
          <a:p>
            <a:pPr algn="just" rtl="1"/>
            <a:r>
              <a:rPr lang="ar-JO" dirty="0"/>
              <a:t>حيث يتم التشاور والتفاوض بين ممثلي الحكومات، </a:t>
            </a:r>
          </a:p>
          <a:p>
            <a:pPr algn="just" rtl="1"/>
            <a:r>
              <a:rPr lang="ar-JO" dirty="0"/>
              <a:t>ثم الاتفاق على نص الميثاق</a:t>
            </a:r>
          </a:p>
          <a:p>
            <a:pPr algn="just" rtl="1"/>
            <a:r>
              <a:rPr lang="ar-JO" dirty="0"/>
              <a:t>ودعوة الدول للتصديق عليه.</a:t>
            </a:r>
          </a:p>
          <a:p>
            <a:pPr algn="just" rtl="1"/>
            <a:r>
              <a:rPr lang="ar-JO" dirty="0"/>
              <a:t>ويدخل الميثاق حيز النفاذ بعد ايداع عدد معين من التصديقات لدى الأمين العام للمنظمة</a:t>
            </a:r>
          </a:p>
          <a:p>
            <a:pPr algn="just" rtl="1"/>
            <a:r>
              <a:rPr lang="ar-JO" dirty="0"/>
              <a:t>وللدول الأخرى أن تنضم للميثاق بعد دخوله حيز النفاذ</a:t>
            </a:r>
          </a:p>
          <a:p>
            <a:pPr algn="just" rtl="1"/>
            <a:r>
              <a:rPr lang="ar-JO" dirty="0"/>
              <a:t>ولا يكون ملزما الا للدول التي تصبح أطرافا فيه عن طريق التصديق أو الانضمام، ما لم يعد الميثاق تقنينا للعرف الدولي.</a:t>
            </a:r>
            <a:endParaRPr lang="en-US" dirty="0"/>
          </a:p>
        </p:txBody>
      </p:sp>
      <p:sp>
        <p:nvSpPr>
          <p:cNvPr id="2" name="Title 1"/>
          <p:cNvSpPr>
            <a:spLocks noGrp="1"/>
          </p:cNvSpPr>
          <p:nvPr>
            <p:ph type="title"/>
          </p:nvPr>
        </p:nvSpPr>
        <p:spPr/>
        <p:txBody>
          <a:bodyPr/>
          <a:lstStyle/>
          <a:p>
            <a:r>
              <a:rPr lang="ar-JO" dirty="0"/>
              <a:t>كيفية وضع المواثيق الدولية لحقوق الانسان</a:t>
            </a:r>
            <a:endParaRPr lang="en-US" dirty="0"/>
          </a:p>
        </p:txBody>
      </p:sp>
    </p:spTree>
    <p:extLst>
      <p:ext uri="{BB962C8B-B14F-4D97-AF65-F5344CB8AC3E}">
        <p14:creationId xmlns:p14="http://schemas.microsoft.com/office/powerpoint/2010/main" val="1755390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rtl="1"/>
            <a:r>
              <a:rPr lang="ar-JO" dirty="0"/>
              <a:t>1. ديباجة (مقدمة) تنص على أهمية احترام حقوق الانسان، والغرض من وضع الميثاق.</a:t>
            </a:r>
          </a:p>
          <a:p>
            <a:pPr algn="just" rtl="1"/>
            <a:r>
              <a:rPr lang="ar-JO" dirty="0"/>
              <a:t>2. التزام الدول الأطراف بتنفيذ الميثاق وضمان الحقوق</a:t>
            </a:r>
          </a:p>
          <a:p>
            <a:pPr algn="just" rtl="1"/>
            <a:r>
              <a:rPr lang="ar-JO" dirty="0"/>
              <a:t>3. الحقوق: شامل أو محدد ببعضها كالحقوق المدنية والسياسية، أو محدد بواحد كمنع التمييز، أو حماية فئة كالطفل.</a:t>
            </a:r>
          </a:p>
          <a:p>
            <a:pPr algn="just" rtl="1"/>
            <a:r>
              <a:rPr lang="ar-JO" dirty="0"/>
              <a:t>4. الرقابة: تنص المواثيق عادة على وضع آلية معينة لمراقبة ومتابعة تنفيذ ما ورد فيها من التزامات. </a:t>
            </a:r>
          </a:p>
          <a:p>
            <a:pPr algn="just" rtl="1"/>
            <a:r>
              <a:rPr lang="ar-JO" dirty="0"/>
              <a:t>وتأخذ هذه الآلية صورة تقديم الدول لتقارير دورية عن التدابير التي اتخذتها لتنفيذ الاتفاقية، أو انشاء لجنة أو محكمة لمراقبة احترام الدول الأطراف لتعهداتها.</a:t>
            </a:r>
            <a:endParaRPr lang="en-US" dirty="0"/>
          </a:p>
        </p:txBody>
      </p:sp>
      <p:sp>
        <p:nvSpPr>
          <p:cNvPr id="2" name="Title 1"/>
          <p:cNvSpPr>
            <a:spLocks noGrp="1"/>
          </p:cNvSpPr>
          <p:nvPr>
            <p:ph type="title"/>
          </p:nvPr>
        </p:nvSpPr>
        <p:spPr/>
        <p:txBody>
          <a:bodyPr/>
          <a:lstStyle/>
          <a:p>
            <a:r>
              <a:rPr lang="ar-JO" dirty="0"/>
              <a:t>مضمون المواثيق الدولية لحقوق الانسان</a:t>
            </a:r>
            <a:endParaRPr lang="en-US" dirty="0"/>
          </a:p>
        </p:txBody>
      </p:sp>
    </p:spTree>
    <p:extLst>
      <p:ext uri="{BB962C8B-B14F-4D97-AF65-F5344CB8AC3E}">
        <p14:creationId xmlns:p14="http://schemas.microsoft.com/office/powerpoint/2010/main" val="3564472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endParaRPr lang="ar-JO" dirty="0"/>
          </a:p>
          <a:p>
            <a:pPr algn="just" rtl="1"/>
            <a:r>
              <a:rPr lang="ar-JO" dirty="0"/>
              <a:t>مواثيق عالمية: الاتفاقيات التي عقدت في اطار الأمم المتحدة ووكالاتها المتخصصة، ويجوز لأية دولة الانضمام اليها.</a:t>
            </a:r>
          </a:p>
          <a:p>
            <a:pPr algn="just" rtl="1"/>
            <a:endParaRPr lang="ar-JO" dirty="0"/>
          </a:p>
          <a:p>
            <a:pPr algn="just" rtl="1"/>
            <a:r>
              <a:rPr lang="ar-JO" dirty="0"/>
              <a:t>مواثيق إقليمية: اتفاقيات عقدت في اطار منظمات دولية اقليمية؛ يقتصر الانضمام اليها على الدول الأعضاء في المنظمة الإقليمية.</a:t>
            </a:r>
            <a:endParaRPr lang="en-US" dirty="0"/>
          </a:p>
        </p:txBody>
      </p:sp>
      <p:sp>
        <p:nvSpPr>
          <p:cNvPr id="2" name="Title 1"/>
          <p:cNvSpPr>
            <a:spLocks noGrp="1"/>
          </p:cNvSpPr>
          <p:nvPr>
            <p:ph type="title"/>
          </p:nvPr>
        </p:nvSpPr>
        <p:spPr/>
        <p:txBody>
          <a:bodyPr/>
          <a:lstStyle/>
          <a:p>
            <a:r>
              <a:rPr lang="ar-JO" dirty="0"/>
              <a:t>تقسيم المواثيق الدولية لحقوق الانسان</a:t>
            </a:r>
            <a:endParaRPr lang="en-US" dirty="0"/>
          </a:p>
        </p:txBody>
      </p:sp>
    </p:spTree>
    <p:extLst>
      <p:ext uri="{BB962C8B-B14F-4D97-AF65-F5344CB8AC3E}">
        <p14:creationId xmlns:p14="http://schemas.microsoft.com/office/powerpoint/2010/main" val="3506702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عندما نشأت الأمم المتحدة نصت في ميثاقها على احترام ح إ</a:t>
            </a:r>
          </a:p>
          <a:p>
            <a:pPr marL="0" indent="0" algn="r" rtl="1">
              <a:buNone/>
            </a:pPr>
            <a:endParaRPr lang="ar-JO" dirty="0"/>
          </a:p>
          <a:p>
            <a:pPr algn="r" rtl="1"/>
            <a:r>
              <a:rPr lang="ar-JO" dirty="0"/>
              <a:t>ثم أصدرت الإعلان العالمي لحقوق الانسان عام 1948</a:t>
            </a:r>
          </a:p>
          <a:p>
            <a:pPr marL="0" indent="0" algn="r" rtl="1">
              <a:buNone/>
            </a:pPr>
            <a:endParaRPr lang="ar-JO" dirty="0"/>
          </a:p>
          <a:p>
            <a:pPr algn="r" rtl="1"/>
            <a:r>
              <a:rPr lang="ar-JO" dirty="0"/>
              <a:t>صدور العديد من المواثيق الدولية كالعهدين الدوليين وغيرها</a:t>
            </a:r>
            <a:endParaRPr lang="en-US" dirty="0"/>
          </a:p>
        </p:txBody>
      </p:sp>
      <p:sp>
        <p:nvSpPr>
          <p:cNvPr id="2" name="Title 1"/>
          <p:cNvSpPr>
            <a:spLocks noGrp="1"/>
          </p:cNvSpPr>
          <p:nvPr>
            <p:ph type="title"/>
          </p:nvPr>
        </p:nvSpPr>
        <p:spPr/>
        <p:txBody>
          <a:bodyPr/>
          <a:lstStyle/>
          <a:p>
            <a:pPr algn="r" rtl="1"/>
            <a:r>
              <a:rPr lang="ar-JO" dirty="0"/>
              <a:t>1. المواثيق العالمية لحقوق الانسان</a:t>
            </a:r>
            <a:endParaRPr lang="en-US" dirty="0"/>
          </a:p>
        </p:txBody>
      </p:sp>
    </p:spTree>
    <p:extLst>
      <p:ext uri="{BB962C8B-B14F-4D97-AF65-F5344CB8AC3E}">
        <p14:creationId xmlns:p14="http://schemas.microsoft.com/office/powerpoint/2010/main" val="9753439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منظمة الأمم المتحدة</a:t>
            </a:r>
          </a:p>
          <a:p>
            <a:pPr algn="just" rtl="1"/>
            <a:r>
              <a:rPr lang="ar-JO" dirty="0"/>
              <a:t>منظمة عالمية، تضم كافة دول العالم</a:t>
            </a:r>
          </a:p>
          <a:p>
            <a:pPr algn="just" rtl="1"/>
            <a:r>
              <a:rPr lang="ar-JO" dirty="0"/>
              <a:t>منظمة عامة، يشمل اختصاصها كافة المجالات السياسية والاقتصادية والثقافية وغيرها</a:t>
            </a:r>
          </a:p>
          <a:p>
            <a:pPr algn="just" rtl="1"/>
            <a:r>
              <a:rPr lang="ar-JO" dirty="0"/>
              <a:t>ويشبه ميثاق الأمم المتحدة الدستور بالنسبة للعلاقات الدولية</a:t>
            </a:r>
          </a:p>
          <a:p>
            <a:pPr algn="just" rtl="1"/>
            <a:r>
              <a:rPr lang="ar-JO" dirty="0"/>
              <a:t>فإذا تعارض أي التزام دولي مع الميثاق فإن الغلبة تكون للميثاق</a:t>
            </a:r>
          </a:p>
          <a:p>
            <a:pPr algn="just" rtl="1"/>
            <a:r>
              <a:rPr lang="ar-JO" dirty="0"/>
              <a:t>م 55/ج ص 19</a:t>
            </a:r>
            <a:endParaRPr lang="en-US" dirty="0"/>
          </a:p>
        </p:txBody>
      </p:sp>
      <p:sp>
        <p:nvSpPr>
          <p:cNvPr id="2" name="Title 1"/>
          <p:cNvSpPr>
            <a:spLocks noGrp="1"/>
          </p:cNvSpPr>
          <p:nvPr>
            <p:ph type="title"/>
          </p:nvPr>
        </p:nvSpPr>
        <p:spPr/>
        <p:txBody>
          <a:bodyPr/>
          <a:lstStyle/>
          <a:p>
            <a:r>
              <a:rPr lang="ar-JO" dirty="0"/>
              <a:t>حقوق الانسان في ميثاق الأمم المتحدة</a:t>
            </a:r>
            <a:endParaRPr lang="en-US" dirty="0"/>
          </a:p>
        </p:txBody>
      </p:sp>
    </p:spTree>
    <p:extLst>
      <p:ext uri="{BB962C8B-B14F-4D97-AF65-F5344CB8AC3E}">
        <p14:creationId xmlns:p14="http://schemas.microsoft.com/office/powerpoint/2010/main" val="3225325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1. جاءت هذه النصوص عامة وغير محددة؛ </a:t>
            </a:r>
          </a:p>
          <a:p>
            <a:pPr algn="just" rtl="1"/>
            <a:r>
              <a:rPr lang="ar-JO" dirty="0"/>
              <a:t> فلم تعرف الحقوق والحريات</a:t>
            </a:r>
          </a:p>
          <a:p>
            <a:pPr algn="just" rtl="1"/>
            <a:r>
              <a:rPr lang="ar-JO" dirty="0"/>
              <a:t>ولا يوجد نظام متكامل يعالج ح إ ، ويرجع الأمر إلى أن نشأة الأمم المتحدة جاءت في أعقاب الحرب العالمية الثانية، ولذلك فإن المقصد الرئيسي للأمم المتحدة هو حفظ السلم والأمن الدوليين (وليس حماية حقوق الانسان). </a:t>
            </a:r>
            <a:endParaRPr lang="en-US" dirty="0"/>
          </a:p>
        </p:txBody>
      </p:sp>
      <p:sp>
        <p:nvSpPr>
          <p:cNvPr id="2" name="Title 1"/>
          <p:cNvSpPr>
            <a:spLocks noGrp="1"/>
          </p:cNvSpPr>
          <p:nvPr>
            <p:ph type="title"/>
          </p:nvPr>
        </p:nvSpPr>
        <p:spPr/>
        <p:txBody>
          <a:bodyPr>
            <a:normAutofit fontScale="90000"/>
          </a:bodyPr>
          <a:lstStyle/>
          <a:p>
            <a:pPr algn="r" rtl="1"/>
            <a:r>
              <a:rPr lang="ar-JO" dirty="0"/>
              <a:t>ملاحظات على النصوص المعنية بحقوق الانسان  في ميثاق الأمم المتحدة</a:t>
            </a:r>
            <a:endParaRPr lang="en-US" dirty="0"/>
          </a:p>
        </p:txBody>
      </p:sp>
    </p:spTree>
    <p:extLst>
      <p:ext uri="{BB962C8B-B14F-4D97-AF65-F5344CB8AC3E}">
        <p14:creationId xmlns:p14="http://schemas.microsoft.com/office/powerpoint/2010/main" val="1687792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2. تسمح هذه النصوص بإمكانية إنشاء آليات ووسائل لحماية حقوق الإنسان، </a:t>
            </a:r>
          </a:p>
          <a:p>
            <a:pPr algn="just" rtl="1"/>
            <a:r>
              <a:rPr lang="ar-JO" dirty="0"/>
              <a:t>وتتضمن هذه الآليات وضع المواثيق والاتفاقيات والقرارات</a:t>
            </a:r>
          </a:p>
          <a:p>
            <a:pPr algn="just" rtl="1"/>
            <a:r>
              <a:rPr lang="ar-JO" dirty="0"/>
              <a:t>وإدانة انتهاكات ح إ</a:t>
            </a:r>
          </a:p>
          <a:p>
            <a:pPr algn="just" rtl="1"/>
            <a:r>
              <a:rPr lang="ar-JO" dirty="0"/>
              <a:t>وإنشاء المحاكم الجنائية الدولية لمعاقبة مرتكبي  الانتهاكات</a:t>
            </a:r>
            <a:endParaRPr lang="en-US" dirty="0"/>
          </a:p>
        </p:txBody>
      </p:sp>
      <p:sp>
        <p:nvSpPr>
          <p:cNvPr id="2" name="Title 1"/>
          <p:cNvSpPr>
            <a:spLocks noGrp="1"/>
          </p:cNvSpPr>
          <p:nvPr>
            <p:ph type="title"/>
          </p:nvPr>
        </p:nvSpPr>
        <p:spPr/>
        <p:txBody>
          <a:bodyPr>
            <a:normAutofit fontScale="90000"/>
          </a:bodyPr>
          <a:lstStyle/>
          <a:p>
            <a:r>
              <a:rPr lang="ar-JO" dirty="0"/>
              <a:t>ملاحظات على النصوص المعنية بحقوق الانسان  في ميثاق الأمم المتحدة</a:t>
            </a:r>
            <a:endParaRPr lang="en-US" dirty="0"/>
          </a:p>
        </p:txBody>
      </p:sp>
    </p:spTree>
    <p:extLst>
      <p:ext uri="{BB962C8B-B14F-4D97-AF65-F5344CB8AC3E}">
        <p14:creationId xmlns:p14="http://schemas.microsoft.com/office/powerpoint/2010/main" val="548845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3. جعلت هذه النصوص احترام حقوق الانسان من واجبات أجهزة الأمم المتحدة (كالجمعية العامة والمجلس الاقتصادي والاجتماعي)</a:t>
            </a:r>
          </a:p>
          <a:p>
            <a:pPr algn="r" rtl="1"/>
            <a:endParaRPr lang="ar-JO" dirty="0"/>
          </a:p>
          <a:p>
            <a:pPr algn="r" rtl="1"/>
            <a:r>
              <a:rPr lang="ar-JO" dirty="0"/>
              <a:t>كما يجوز لمجلس الأمن التدخل في الحالة التي تشكل فيها انتهاكات حقوق الانسان إخلالا بالسلم والأمن الدوليين</a:t>
            </a:r>
            <a:endParaRPr lang="en-US" dirty="0"/>
          </a:p>
        </p:txBody>
      </p:sp>
      <p:sp>
        <p:nvSpPr>
          <p:cNvPr id="2" name="Title 1"/>
          <p:cNvSpPr>
            <a:spLocks noGrp="1"/>
          </p:cNvSpPr>
          <p:nvPr>
            <p:ph type="title"/>
          </p:nvPr>
        </p:nvSpPr>
        <p:spPr/>
        <p:txBody>
          <a:bodyPr>
            <a:normAutofit fontScale="90000"/>
          </a:bodyPr>
          <a:lstStyle/>
          <a:p>
            <a:pPr algn="r" rtl="1"/>
            <a:r>
              <a:rPr lang="ar-JO" dirty="0"/>
              <a:t>ملاحظات على النصوص المعنية بحقوق الانسان  في ميثاق الأمم المتحدة</a:t>
            </a:r>
            <a:endParaRPr lang="en-US" dirty="0"/>
          </a:p>
        </p:txBody>
      </p:sp>
    </p:spTree>
    <p:extLst>
      <p:ext uri="{BB962C8B-B14F-4D97-AF65-F5344CB8AC3E}">
        <p14:creationId xmlns:p14="http://schemas.microsoft.com/office/powerpoint/2010/main" val="227179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رأيين:</a:t>
            </a:r>
          </a:p>
          <a:p>
            <a:pPr marL="0" indent="0" algn="r" rtl="1">
              <a:buNone/>
            </a:pPr>
            <a:endParaRPr lang="ar-JO" dirty="0"/>
          </a:p>
          <a:p>
            <a:pPr algn="r" rtl="1"/>
            <a:r>
              <a:rPr lang="ar-JO" dirty="0"/>
              <a:t>أ. ليست لها قيمة قانونية</a:t>
            </a:r>
          </a:p>
          <a:p>
            <a:pPr algn="r" rtl="1"/>
            <a:endParaRPr lang="ar-JO" dirty="0"/>
          </a:p>
          <a:p>
            <a:pPr algn="r" rtl="1"/>
            <a:r>
              <a:rPr lang="ar-JO" dirty="0"/>
              <a:t>ب. لها قيمة قانونية</a:t>
            </a:r>
            <a:endParaRPr lang="en-US" dirty="0"/>
          </a:p>
        </p:txBody>
      </p:sp>
      <p:sp>
        <p:nvSpPr>
          <p:cNvPr id="2" name="Title 1"/>
          <p:cNvSpPr>
            <a:spLocks noGrp="1"/>
          </p:cNvSpPr>
          <p:nvPr>
            <p:ph type="title"/>
          </p:nvPr>
        </p:nvSpPr>
        <p:spPr/>
        <p:txBody>
          <a:bodyPr>
            <a:normAutofit fontScale="90000"/>
          </a:bodyPr>
          <a:lstStyle/>
          <a:p>
            <a:pPr algn="r" rtl="1"/>
            <a:r>
              <a:rPr lang="ar-JO" dirty="0"/>
              <a:t>القيمة القانونية للنصوص المعنية بحقوق الإنسان في ميثاق الأمم المتحدة</a:t>
            </a:r>
            <a:endParaRPr lang="en-US" dirty="0"/>
          </a:p>
        </p:txBody>
      </p:sp>
    </p:spTree>
    <p:extLst>
      <p:ext uri="{BB962C8B-B14F-4D97-AF65-F5344CB8AC3E}">
        <p14:creationId xmlns:p14="http://schemas.microsoft.com/office/powerpoint/2010/main" val="2011712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الرأي الأول: ليست لها قيمة قانونية</a:t>
            </a:r>
          </a:p>
          <a:p>
            <a:pPr marL="0" indent="0" algn="r" rtl="1">
              <a:buNone/>
            </a:pPr>
            <a:endParaRPr lang="ar-JO" dirty="0"/>
          </a:p>
          <a:p>
            <a:pPr algn="r" rtl="1"/>
            <a:r>
              <a:rPr lang="ar-JO" dirty="0"/>
              <a:t>فهي لا تفرض التزامات محددة على الدول الأعضاء</a:t>
            </a:r>
          </a:p>
          <a:p>
            <a:pPr marL="0" indent="0" algn="r" rtl="1">
              <a:buNone/>
            </a:pPr>
            <a:endParaRPr lang="ar-JO" dirty="0"/>
          </a:p>
          <a:p>
            <a:pPr algn="r" rtl="1"/>
            <a:r>
              <a:rPr lang="ar-JO" dirty="0"/>
              <a:t>ولا تتحدث عن حقوق الإنسان أوضمانها</a:t>
            </a:r>
          </a:p>
          <a:p>
            <a:pPr marL="0" indent="0" algn="r" rtl="1">
              <a:buNone/>
            </a:pPr>
            <a:endParaRPr lang="ar-JO" dirty="0"/>
          </a:p>
          <a:p>
            <a:pPr algn="r" rtl="1"/>
            <a:r>
              <a:rPr lang="ar-JO" dirty="0"/>
              <a:t>وإنما تعمل فحسب على تعزيز وترويج ح إ</a:t>
            </a:r>
            <a:endParaRPr lang="en-US" dirty="0"/>
          </a:p>
        </p:txBody>
      </p:sp>
      <p:sp>
        <p:nvSpPr>
          <p:cNvPr id="2" name="Title 1"/>
          <p:cNvSpPr>
            <a:spLocks noGrp="1"/>
          </p:cNvSpPr>
          <p:nvPr>
            <p:ph type="title"/>
          </p:nvPr>
        </p:nvSpPr>
        <p:spPr/>
        <p:txBody>
          <a:bodyPr>
            <a:normAutofit fontScale="90000"/>
          </a:bodyPr>
          <a:lstStyle/>
          <a:p>
            <a:r>
              <a:rPr lang="ar-JO" dirty="0"/>
              <a:t>القيمة القانونية للنصوص المعنية بحقوق الإنسان في ميثاق الأمم المتحدة</a:t>
            </a:r>
            <a:endParaRPr lang="en-US" dirty="0"/>
          </a:p>
        </p:txBody>
      </p:sp>
    </p:spTree>
    <p:extLst>
      <p:ext uri="{BB962C8B-B14F-4D97-AF65-F5344CB8AC3E}">
        <p14:creationId xmlns:p14="http://schemas.microsoft.com/office/powerpoint/2010/main" val="5046154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الرأي الثاني: لها قيمة قانونية</a:t>
            </a:r>
          </a:p>
          <a:p>
            <a:pPr marL="0" indent="0" algn="r" rtl="1">
              <a:buNone/>
            </a:pPr>
            <a:endParaRPr lang="ar-JO" dirty="0"/>
          </a:p>
          <a:p>
            <a:pPr algn="r" rtl="1"/>
            <a:r>
              <a:rPr lang="ar-JO" dirty="0"/>
              <a:t>فهي تلزم الدول باحترام حقوق الإنسان من خلال تدويل فكرة ح إ</a:t>
            </a:r>
          </a:p>
          <a:p>
            <a:pPr marL="0" indent="0" algn="r" rtl="1">
              <a:buNone/>
            </a:pPr>
            <a:endParaRPr lang="ar-JO" dirty="0"/>
          </a:p>
          <a:p>
            <a:pPr algn="r" rtl="1"/>
            <a:r>
              <a:rPr lang="ar-JO" dirty="0"/>
              <a:t>(أي شأن دولي يهم كافة دول العالم وليس شأنا داخليا).</a:t>
            </a:r>
            <a:endParaRPr lang="en-US" dirty="0"/>
          </a:p>
        </p:txBody>
      </p:sp>
      <p:sp>
        <p:nvSpPr>
          <p:cNvPr id="2" name="Title 1"/>
          <p:cNvSpPr>
            <a:spLocks noGrp="1"/>
          </p:cNvSpPr>
          <p:nvPr>
            <p:ph type="title"/>
          </p:nvPr>
        </p:nvSpPr>
        <p:spPr/>
        <p:txBody>
          <a:bodyPr>
            <a:normAutofit fontScale="90000"/>
          </a:bodyPr>
          <a:lstStyle/>
          <a:p>
            <a:pPr algn="r" rtl="1"/>
            <a:r>
              <a:rPr lang="ar-JO" dirty="0"/>
              <a:t>القيمة القانونية للنصوص المعنية بحقوق الإنسان في ميثاق الأمم المتحدة</a:t>
            </a:r>
            <a:endParaRPr lang="en-US" dirty="0"/>
          </a:p>
        </p:txBody>
      </p:sp>
    </p:spTree>
    <p:extLst>
      <p:ext uri="{BB962C8B-B14F-4D97-AF65-F5344CB8AC3E}">
        <p14:creationId xmlns:p14="http://schemas.microsoft.com/office/powerpoint/2010/main" val="1309483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495799"/>
          </a:xfrm>
        </p:spPr>
        <p:txBody>
          <a:bodyPr>
            <a:normAutofit fontScale="85000" lnSpcReduction="20000"/>
          </a:bodyPr>
          <a:lstStyle/>
          <a:p>
            <a:pPr algn="just" rtl="1"/>
            <a:r>
              <a:rPr lang="ar-JO" dirty="0"/>
              <a:t>حقيقة الأمر أن هذه النصوص تشكل التزاما عاما على الدول بضرورة احترام تعزيز ح إ</a:t>
            </a:r>
          </a:p>
          <a:p>
            <a:pPr algn="just" rtl="1"/>
            <a:r>
              <a:rPr lang="ar-JO" dirty="0"/>
              <a:t>ولهذا الغرض أنشأت الأمم المتحدة مجلس حقوق الانسان والمفوضية السامية لحقوق الانسان</a:t>
            </a:r>
          </a:p>
          <a:p>
            <a:pPr algn="just" rtl="1"/>
            <a:r>
              <a:rPr lang="ar-JO" dirty="0"/>
              <a:t>وتختص الأمم المتحدة ببحث انتهاكات حقوق الانسان داخل الدول، ولا يمنعها من القيام بهذه المهمة قيد الاختصاص الداخلي الوارد في الميثاق</a:t>
            </a:r>
          </a:p>
          <a:p>
            <a:pPr marL="0" indent="0" algn="just" rtl="1">
              <a:buNone/>
            </a:pPr>
            <a:endParaRPr lang="ar-JO" dirty="0"/>
          </a:p>
          <a:p>
            <a:pPr algn="just" rtl="1"/>
            <a:r>
              <a:rPr lang="ar-JO" dirty="0"/>
              <a:t>وذلك لأن الاهتمام بحقوق الانسان أصبح اهتماما يتعلق بالمصلحة الدولية للمجتمع الدولي بأسره، وليس شأنا داخليا تستقل كل دولة على حده –بما لها من سيادة- بتنظيمه</a:t>
            </a:r>
          </a:p>
          <a:p>
            <a:pPr algn="just" rtl="1"/>
            <a:r>
              <a:rPr lang="ar-JO" dirty="0"/>
              <a:t>فحماية حقوق الانسان هي في الأصل التزام يقع على عاتق الدولة – بمقتضى قانونها الداخلي أو بمقتضى تصديقها على اتفاقية دولية لحماية ح إ – ويراقبها في ذلك المجتمع الدولي</a:t>
            </a:r>
          </a:p>
          <a:p>
            <a:pPr algn="just" rtl="1"/>
            <a:r>
              <a:rPr lang="ar-JO" dirty="0"/>
              <a:t>فإذا قصرت الدولة في تنفيذ التزاماتها، فإن للمجتمع الدولي أن يطالبها باحترام ح إ</a:t>
            </a:r>
            <a:endParaRPr lang="en-US" dirty="0"/>
          </a:p>
        </p:txBody>
      </p:sp>
      <p:sp>
        <p:nvSpPr>
          <p:cNvPr id="2" name="Title 1"/>
          <p:cNvSpPr>
            <a:spLocks noGrp="1"/>
          </p:cNvSpPr>
          <p:nvPr>
            <p:ph type="title"/>
          </p:nvPr>
        </p:nvSpPr>
        <p:spPr/>
        <p:txBody>
          <a:bodyPr>
            <a:normAutofit fontScale="90000"/>
          </a:bodyPr>
          <a:lstStyle/>
          <a:p>
            <a:pPr algn="r" rtl="1"/>
            <a:r>
              <a:rPr lang="ar-JO" dirty="0"/>
              <a:t>القيمة القانونية للنصوص المعنية بحقوق الإنسان في ميثاق الأمم المتحدة</a:t>
            </a:r>
            <a:endParaRPr lang="en-US" dirty="0"/>
          </a:p>
        </p:txBody>
      </p:sp>
    </p:spTree>
    <p:extLst>
      <p:ext uri="{BB962C8B-B14F-4D97-AF65-F5344CB8AC3E}">
        <p14:creationId xmlns:p14="http://schemas.microsoft.com/office/powerpoint/2010/main" val="10916551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rtl="1">
              <a:buNone/>
            </a:pPr>
            <a:r>
              <a:rPr lang="ar-JO" dirty="0"/>
              <a:t>أ. مواثيق شاملة ح إ</a:t>
            </a:r>
          </a:p>
          <a:p>
            <a:pPr marL="0" indent="0" algn="just" rtl="1">
              <a:buNone/>
            </a:pPr>
            <a:r>
              <a:rPr lang="ar-JO" dirty="0"/>
              <a:t>المجموعة الدولية لحقوق الانسان= الشرعة الدولية لحقوق الانسان = العهدان الدوليان + الإعلان العالمي لحقوق الانسان</a:t>
            </a:r>
          </a:p>
          <a:p>
            <a:pPr marL="0" indent="0" algn="just" rtl="1">
              <a:buNone/>
            </a:pPr>
            <a:endParaRPr lang="ar-JO" dirty="0"/>
          </a:p>
          <a:p>
            <a:pPr marL="0" indent="0" algn="just" rtl="1">
              <a:buNone/>
            </a:pPr>
            <a:r>
              <a:rPr lang="ar-JO" dirty="0"/>
              <a:t>العهدان = العهد الدولي للحقوق المدنية والسياسية + العهد الدولي للحقوق الاقتصادية والاجتماعية والثقافية</a:t>
            </a:r>
          </a:p>
          <a:p>
            <a:pPr algn="just" rtl="1"/>
            <a:endParaRPr lang="ar-JO" dirty="0"/>
          </a:p>
          <a:p>
            <a:pPr algn="just" rtl="1"/>
            <a:endParaRPr lang="ar-JO" dirty="0"/>
          </a:p>
          <a:p>
            <a:pPr algn="just" rtl="1"/>
            <a:endParaRPr lang="ar-JO" dirty="0"/>
          </a:p>
          <a:p>
            <a:pPr algn="just" rtl="1"/>
            <a:endParaRPr lang="ar-JO" dirty="0"/>
          </a:p>
          <a:p>
            <a:pPr algn="just" rtl="1"/>
            <a:endParaRPr lang="ar-JO" dirty="0"/>
          </a:p>
          <a:p>
            <a:pPr algn="just" rtl="1"/>
            <a:endParaRPr lang="ar-JO" dirty="0"/>
          </a:p>
          <a:p>
            <a:pPr algn="just" rtl="1"/>
            <a:endParaRPr lang="ar-JO" dirty="0"/>
          </a:p>
          <a:p>
            <a:pPr marL="0" indent="0" algn="just" rtl="1">
              <a:buNone/>
            </a:pPr>
            <a:endParaRPr lang="ar-JO" dirty="0"/>
          </a:p>
        </p:txBody>
      </p:sp>
      <p:sp>
        <p:nvSpPr>
          <p:cNvPr id="2" name="Title 1"/>
          <p:cNvSpPr>
            <a:spLocks noGrp="1"/>
          </p:cNvSpPr>
          <p:nvPr>
            <p:ph type="title"/>
          </p:nvPr>
        </p:nvSpPr>
        <p:spPr/>
        <p:txBody>
          <a:bodyPr>
            <a:normAutofit/>
          </a:bodyPr>
          <a:lstStyle/>
          <a:p>
            <a:r>
              <a:rPr lang="ar-JO" dirty="0"/>
              <a:t>المواثيق الدولية الصادرة في إطار الأمم المتحدة</a:t>
            </a:r>
            <a:endParaRPr lang="en-US" dirty="0"/>
          </a:p>
        </p:txBody>
      </p:sp>
    </p:spTree>
    <p:extLst>
      <p:ext uri="{BB962C8B-B14F-4D97-AF65-F5344CB8AC3E}">
        <p14:creationId xmlns:p14="http://schemas.microsoft.com/office/powerpoint/2010/main" val="41850824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مواثيق مخصصة لحماية حق معين، أو فئة معينة</a:t>
            </a:r>
          </a:p>
          <a:p>
            <a:pPr algn="r" rtl="1"/>
            <a:endParaRPr lang="ar-JO" dirty="0"/>
          </a:p>
          <a:p>
            <a:pPr algn="r" rtl="1"/>
            <a:r>
              <a:rPr lang="ar-JO" dirty="0"/>
              <a:t>كالحق في منع التمييز: الاتفاقية الدولية للقضاء على جميع أشكال التمييز العنصري</a:t>
            </a:r>
          </a:p>
          <a:p>
            <a:pPr marL="0" indent="0" algn="r" rtl="1">
              <a:buNone/>
            </a:pPr>
            <a:endParaRPr lang="ar-JO" dirty="0"/>
          </a:p>
          <a:p>
            <a:pPr algn="r" rtl="1"/>
            <a:r>
              <a:rPr lang="ar-JO" dirty="0"/>
              <a:t>الطفل: اتفاقية حقوق الطفل</a:t>
            </a:r>
          </a:p>
          <a:p>
            <a:pPr algn="r" rtl="1"/>
            <a:r>
              <a:rPr lang="ar-JO" dirty="0"/>
              <a:t>المرأة: اتفاقية القضاء على جميع أشكال التمييز ضد المرأة</a:t>
            </a:r>
            <a:endParaRPr lang="en-US" dirty="0"/>
          </a:p>
        </p:txBody>
      </p:sp>
      <p:sp>
        <p:nvSpPr>
          <p:cNvPr id="2" name="Title 1"/>
          <p:cNvSpPr>
            <a:spLocks noGrp="1"/>
          </p:cNvSpPr>
          <p:nvPr>
            <p:ph type="title"/>
          </p:nvPr>
        </p:nvSpPr>
        <p:spPr/>
        <p:txBody>
          <a:bodyPr>
            <a:normAutofit/>
          </a:bodyPr>
          <a:lstStyle/>
          <a:p>
            <a:r>
              <a:rPr lang="ar-JO" dirty="0"/>
              <a:t>المواثيق الدولية الصادرة في إطار الأمم المتحدة</a:t>
            </a:r>
            <a:endParaRPr lang="en-US" dirty="0"/>
          </a:p>
        </p:txBody>
      </p:sp>
    </p:spTree>
    <p:extLst>
      <p:ext uri="{BB962C8B-B14F-4D97-AF65-F5344CB8AC3E}">
        <p14:creationId xmlns:p14="http://schemas.microsoft.com/office/powerpoint/2010/main" val="171381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endParaRPr lang="ar-JO" dirty="0"/>
          </a:p>
          <a:p>
            <a:pPr algn="r" rtl="1"/>
            <a:r>
              <a:rPr lang="ar-JO" dirty="0"/>
              <a:t>الاعلان العالمي لحقوق الانسان</a:t>
            </a:r>
          </a:p>
          <a:p>
            <a:pPr algn="r" rtl="1"/>
            <a:endParaRPr lang="ar-JO" dirty="0"/>
          </a:p>
          <a:p>
            <a:pPr algn="r" rtl="1"/>
            <a:r>
              <a:rPr lang="ar-JO" dirty="0"/>
              <a:t>العهدين الدوليين</a:t>
            </a:r>
            <a:endParaRPr lang="en-US" dirty="0"/>
          </a:p>
        </p:txBody>
      </p:sp>
      <p:sp>
        <p:nvSpPr>
          <p:cNvPr id="2" name="Title 1"/>
          <p:cNvSpPr>
            <a:spLocks noGrp="1"/>
          </p:cNvSpPr>
          <p:nvPr>
            <p:ph type="title"/>
          </p:nvPr>
        </p:nvSpPr>
        <p:spPr/>
        <p:txBody>
          <a:bodyPr/>
          <a:lstStyle/>
          <a:p>
            <a:pPr algn="r" rtl="1"/>
            <a:r>
              <a:rPr lang="ar-JO" dirty="0"/>
              <a:t>المجموعة الدولية لحقوق الانسان</a:t>
            </a:r>
            <a:endParaRPr lang="en-US" dirty="0"/>
          </a:p>
        </p:txBody>
      </p:sp>
    </p:spTree>
    <p:extLst>
      <p:ext uri="{BB962C8B-B14F-4D97-AF65-F5344CB8AC3E}">
        <p14:creationId xmlns:p14="http://schemas.microsoft.com/office/powerpoint/2010/main" val="33600451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r" rtl="1"/>
            <a:r>
              <a:rPr lang="ar-JO" dirty="0"/>
              <a:t>صدر عام 1948 عن الجمعية العامة للأمم المتحدة </a:t>
            </a:r>
          </a:p>
          <a:p>
            <a:pPr algn="r" rtl="1"/>
            <a:r>
              <a:rPr lang="ar-JO" dirty="0"/>
              <a:t>أول وثيقة شاملة لمختلف حقوق الانسان عن منظمة دولية</a:t>
            </a:r>
          </a:p>
          <a:p>
            <a:pPr algn="r" rtl="1"/>
            <a:r>
              <a:rPr lang="ar-JO" dirty="0"/>
              <a:t>يتضمن ديباجة و30 مادة</a:t>
            </a:r>
          </a:p>
          <a:p>
            <a:pPr marL="0" indent="0" algn="r" rtl="1">
              <a:buNone/>
            </a:pPr>
            <a:endParaRPr lang="en-US" dirty="0"/>
          </a:p>
        </p:txBody>
      </p:sp>
      <p:sp>
        <p:nvSpPr>
          <p:cNvPr id="2" name="Title 1"/>
          <p:cNvSpPr>
            <a:spLocks noGrp="1"/>
          </p:cNvSpPr>
          <p:nvPr>
            <p:ph type="title"/>
          </p:nvPr>
        </p:nvSpPr>
        <p:spPr/>
        <p:txBody>
          <a:bodyPr/>
          <a:lstStyle/>
          <a:p>
            <a:pPr algn="r" rtl="1"/>
            <a:r>
              <a:rPr lang="ar-JO" dirty="0"/>
              <a:t>الاعلان العالمي لحقوق الانسان</a:t>
            </a:r>
            <a:endParaRPr lang="en-US" dirty="0"/>
          </a:p>
        </p:txBody>
      </p:sp>
    </p:spTree>
    <p:extLst>
      <p:ext uri="{BB962C8B-B14F-4D97-AF65-F5344CB8AC3E}">
        <p14:creationId xmlns:p14="http://schemas.microsoft.com/office/powerpoint/2010/main" val="22048422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rtl="1"/>
            <a:r>
              <a:rPr lang="ar-JO" dirty="0"/>
              <a:t>جاء في الديباجة أن الاعلان العالمي يصدر:</a:t>
            </a:r>
          </a:p>
          <a:p>
            <a:pPr algn="just" rtl="1"/>
            <a:r>
              <a:rPr lang="ar-JO" dirty="0"/>
              <a:t>- إقرارا بما لجميع أعضاء الأسرة البشرية من كرامة أصيلة فيهم، ومن حقوق متساوية وثابتة، يشكل أساس الحرية والعدل والسلام في العالم.</a:t>
            </a:r>
          </a:p>
          <a:p>
            <a:pPr algn="just" rtl="1"/>
            <a:r>
              <a:rPr lang="ar-JO" dirty="0"/>
              <a:t>- تجاهل حقوق الإنسان وازدراؤها قد أفضيا إلى أعمال أثارت بربريتها الضمير الانساني، وكان البشر قد نادوا ببزوغ عالم يتمتعون فيه بحرية القول والعقيدة وبالتحرر من الخوف والفاقة، كأسمى ما ترنو إليه نفوسهم.</a:t>
            </a:r>
          </a:p>
          <a:p>
            <a:pPr algn="just" rtl="1"/>
            <a:r>
              <a:rPr lang="ar-JO" dirty="0"/>
              <a:t>- ولأن من الأساسي أن تتمتع حقوق الانسان بحماية النظام القانوني إذا أريد للبشر أو يضطروا آخر الأمر إلى اللياذ بالتمرد على الطغيان والاضطهاد.</a:t>
            </a:r>
            <a:endParaRPr lang="en-US" dirty="0"/>
          </a:p>
        </p:txBody>
      </p:sp>
      <p:sp>
        <p:nvSpPr>
          <p:cNvPr id="2" name="Title 1"/>
          <p:cNvSpPr>
            <a:spLocks noGrp="1"/>
          </p:cNvSpPr>
          <p:nvPr>
            <p:ph type="title"/>
          </p:nvPr>
        </p:nvSpPr>
        <p:spPr/>
        <p:txBody>
          <a:bodyPr/>
          <a:lstStyle/>
          <a:p>
            <a:pPr algn="r" rtl="1"/>
            <a:r>
              <a:rPr lang="ar-JO" dirty="0"/>
              <a:t>الديباجة</a:t>
            </a:r>
            <a:endParaRPr lang="en-US" dirty="0"/>
          </a:p>
        </p:txBody>
      </p:sp>
    </p:spTree>
    <p:extLst>
      <p:ext uri="{BB962C8B-B14F-4D97-AF65-F5344CB8AC3E}">
        <p14:creationId xmlns:p14="http://schemas.microsoft.com/office/powerpoint/2010/main" val="36887276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تركز مواد الإعلان العالمي لحقوق الانسان على المرتكزات الأساسية التي تنبع منها حقوق الانسان وهي:</a:t>
            </a:r>
          </a:p>
          <a:p>
            <a:pPr algn="r" rtl="1"/>
            <a:r>
              <a:rPr lang="ar-JO" dirty="0"/>
              <a:t>الكرامة</a:t>
            </a:r>
          </a:p>
          <a:p>
            <a:pPr algn="r" rtl="1"/>
            <a:r>
              <a:rPr lang="ar-JO" dirty="0"/>
              <a:t>والحرية</a:t>
            </a:r>
          </a:p>
          <a:p>
            <a:pPr algn="r" rtl="1"/>
            <a:r>
              <a:rPr lang="ar-JO" dirty="0"/>
              <a:t>وعدم التمييز</a:t>
            </a:r>
          </a:p>
          <a:p>
            <a:pPr algn="r" rtl="1"/>
            <a:r>
              <a:rPr lang="ar-JO" dirty="0"/>
              <a:t>م (1)</a:t>
            </a:r>
          </a:p>
          <a:p>
            <a:pPr algn="r" rtl="1"/>
            <a:r>
              <a:rPr lang="ar-JO" dirty="0"/>
              <a:t>م (2)   ص 22</a:t>
            </a:r>
            <a:endParaRPr lang="en-US" dirty="0"/>
          </a:p>
        </p:txBody>
      </p:sp>
      <p:sp>
        <p:nvSpPr>
          <p:cNvPr id="2" name="Title 1"/>
          <p:cNvSpPr>
            <a:spLocks noGrp="1"/>
          </p:cNvSpPr>
          <p:nvPr>
            <p:ph type="title"/>
          </p:nvPr>
        </p:nvSpPr>
        <p:spPr/>
        <p:txBody>
          <a:bodyPr/>
          <a:lstStyle/>
          <a:p>
            <a:r>
              <a:rPr lang="ar-JO" dirty="0"/>
              <a:t>المواد</a:t>
            </a:r>
            <a:endParaRPr lang="en-US" dirty="0"/>
          </a:p>
        </p:txBody>
      </p:sp>
    </p:spTree>
    <p:extLst>
      <p:ext uri="{BB962C8B-B14F-4D97-AF65-F5344CB8AC3E}">
        <p14:creationId xmlns:p14="http://schemas.microsoft.com/office/powerpoint/2010/main" val="38540573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rtl="1"/>
            <a:r>
              <a:rPr lang="ar-JO" dirty="0"/>
              <a:t>1. وصف الاعلان: اختارت الدول أن تكون الوثيقة إعلانا، وليست معاهدة، لا سيما وأن الأخيرة ملزمة للدول.</a:t>
            </a:r>
          </a:p>
          <a:p>
            <a:pPr algn="just" rtl="1"/>
            <a:r>
              <a:rPr lang="ar-JO" dirty="0"/>
              <a:t>2. الطابع العالمي: فمبادئ حقوق الانسان الواردة في الإعلان واجبة التطبيق على كافة المجتمعات، رغم اختلافها</a:t>
            </a:r>
          </a:p>
          <a:p>
            <a:pPr algn="just" rtl="1"/>
            <a:r>
              <a:rPr lang="ar-JO" dirty="0"/>
              <a:t>ويستخدم الاعلان أفاظا عامة مثل (الانسان)و(الناس)و(الفرد) بدلا من المواطن أو الرعية.</a:t>
            </a:r>
          </a:p>
          <a:p>
            <a:pPr algn="just" rtl="1"/>
            <a:r>
              <a:rPr lang="ar-JO" dirty="0"/>
              <a:t>3. الطابع الشمولي: فتشمل مواد الاعلان العالمي لحقوق الانسان كلا من الحقوق المدنية والسياسية، والاقتصادية والاجتماعية والثقافية.</a:t>
            </a:r>
            <a:endParaRPr lang="en-US" dirty="0"/>
          </a:p>
        </p:txBody>
      </p:sp>
      <p:sp>
        <p:nvSpPr>
          <p:cNvPr id="2" name="Title 1"/>
          <p:cNvSpPr>
            <a:spLocks noGrp="1"/>
          </p:cNvSpPr>
          <p:nvPr>
            <p:ph type="title"/>
          </p:nvPr>
        </p:nvSpPr>
        <p:spPr/>
        <p:txBody>
          <a:bodyPr>
            <a:normAutofit fontScale="90000"/>
          </a:bodyPr>
          <a:lstStyle/>
          <a:p>
            <a:r>
              <a:rPr lang="ar-JO" dirty="0"/>
              <a:t>أهم السمات المميزة للإعلان العالمي لحقوق الانسان</a:t>
            </a:r>
            <a:endParaRPr lang="en-US" dirty="0"/>
          </a:p>
        </p:txBody>
      </p:sp>
    </p:spTree>
    <p:extLst>
      <p:ext uri="{BB962C8B-B14F-4D97-AF65-F5344CB8AC3E}">
        <p14:creationId xmlns:p14="http://schemas.microsoft.com/office/powerpoint/2010/main" val="20505343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رأيين:</a:t>
            </a:r>
          </a:p>
          <a:p>
            <a:pPr algn="just" rtl="1"/>
            <a:r>
              <a:rPr lang="ar-JO" dirty="0"/>
              <a:t>1. لا يتمتع بقوة الالزام، كونه صدر في صورة اعلان</a:t>
            </a:r>
          </a:p>
          <a:p>
            <a:pPr algn="just" rtl="1"/>
            <a:r>
              <a:rPr lang="ar-JO" dirty="0"/>
              <a:t>    وصدر بقرار من الجمعية العامة والتي تتمتع قراراتها بالإلزام الأدبي فحسب.</a:t>
            </a:r>
          </a:p>
          <a:p>
            <a:pPr algn="just" rtl="1"/>
            <a:r>
              <a:rPr lang="ar-JO" dirty="0"/>
              <a:t>2. يتمتع بقيمة وقوة سياسية وأدبية لا يستهان بها، فهو مصدر وتفسير لحقوق الانسان، وأشارت اليه دساتير.</a:t>
            </a:r>
            <a:endParaRPr lang="en-US" dirty="0"/>
          </a:p>
        </p:txBody>
      </p:sp>
      <p:sp>
        <p:nvSpPr>
          <p:cNvPr id="2" name="Title 1"/>
          <p:cNvSpPr>
            <a:spLocks noGrp="1"/>
          </p:cNvSpPr>
          <p:nvPr>
            <p:ph type="title"/>
          </p:nvPr>
        </p:nvSpPr>
        <p:spPr/>
        <p:txBody>
          <a:bodyPr/>
          <a:lstStyle/>
          <a:p>
            <a:r>
              <a:rPr lang="ar-JO" dirty="0"/>
              <a:t>القيمة القانونية للاعلان العالمي لحقوق الانسان</a:t>
            </a:r>
            <a:endParaRPr lang="en-US" dirty="0"/>
          </a:p>
        </p:txBody>
      </p:sp>
    </p:spTree>
    <p:extLst>
      <p:ext uri="{BB962C8B-B14F-4D97-AF65-F5344CB8AC3E}">
        <p14:creationId xmlns:p14="http://schemas.microsoft.com/office/powerpoint/2010/main" val="5635439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rtl="1"/>
            <a:r>
              <a:rPr lang="ar-JO" dirty="0"/>
              <a:t>من المستقر أن مبادئ الاعلان تشكل مصدرا أساسيا في كافة الجهود المبذولة لتعزيز وحماية حقوق الانسان.</a:t>
            </a:r>
          </a:p>
          <a:p>
            <a:pPr algn="just" rtl="1"/>
            <a:r>
              <a:rPr lang="ar-JO" dirty="0"/>
              <a:t>أغلب نصوصه، إما تحولت للقانون الدولي العرفي، أو تشكل تفسيرا لنصوص ميثاق الامم </a:t>
            </a:r>
          </a:p>
          <a:p>
            <a:pPr algn="just" rtl="1"/>
            <a:r>
              <a:rPr lang="ar-JO" dirty="0"/>
              <a:t>اعتمدت الجمعية العامة الاعلان العالمي لتعريف مفهومي «حقوق الانسان» و «الحريات الأساسية»</a:t>
            </a:r>
          </a:p>
          <a:p>
            <a:pPr algn="just" rtl="1"/>
            <a:r>
              <a:rPr lang="ar-JO" dirty="0"/>
              <a:t>كما جاء في ميثاق الامم المتحدة، الاعلان العالمي ح إ ملزم لجميع الدول الأعضاء في الأمم المتحدة.</a:t>
            </a:r>
          </a:p>
        </p:txBody>
      </p:sp>
      <p:sp>
        <p:nvSpPr>
          <p:cNvPr id="2" name="Title 1"/>
          <p:cNvSpPr>
            <a:spLocks noGrp="1"/>
          </p:cNvSpPr>
          <p:nvPr>
            <p:ph type="title"/>
          </p:nvPr>
        </p:nvSpPr>
        <p:spPr/>
        <p:txBody>
          <a:bodyPr/>
          <a:lstStyle/>
          <a:p>
            <a:r>
              <a:rPr lang="ar-JO" dirty="0"/>
              <a:t>القيمة القانونية للاعلان العالمي لحقوق الانسان</a:t>
            </a:r>
            <a:endParaRPr lang="en-US" dirty="0"/>
          </a:p>
        </p:txBody>
      </p:sp>
    </p:spTree>
    <p:extLst>
      <p:ext uri="{BB962C8B-B14F-4D97-AF65-F5344CB8AC3E}">
        <p14:creationId xmlns:p14="http://schemas.microsoft.com/office/powerpoint/2010/main" val="2175826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بعد 18 سنة من صدور الاعلان العالمي لحقوق الانسان</a:t>
            </a:r>
          </a:p>
          <a:p>
            <a:pPr algn="just" rtl="1"/>
            <a:r>
              <a:rPr lang="ar-JO" dirty="0"/>
              <a:t>اعتمدت الجمعية العامة للأمم المتحدة عام 1966 عهدين دوليين يتضمنان تنظيما مفصلا للحقوق والحريات.</a:t>
            </a:r>
          </a:p>
          <a:p>
            <a:pPr algn="just" rtl="1"/>
            <a:endParaRPr lang="ar-JO" dirty="0"/>
          </a:p>
          <a:p>
            <a:pPr algn="just" rtl="1"/>
            <a:r>
              <a:rPr lang="ar-JO" dirty="0"/>
              <a:t>ويشكل هذان العهدان خطوة متقدمة بالنسبة للاعلان العالمي، فهما وإن كانا في مضمونهما مشابهين لمضمون الاعلان، الا أنهما يمتازا عنه في أمرين:</a:t>
            </a:r>
            <a:endParaRPr lang="en-US" dirty="0"/>
          </a:p>
        </p:txBody>
      </p:sp>
      <p:sp>
        <p:nvSpPr>
          <p:cNvPr id="2" name="Title 1"/>
          <p:cNvSpPr>
            <a:spLocks noGrp="1"/>
          </p:cNvSpPr>
          <p:nvPr>
            <p:ph type="title"/>
          </p:nvPr>
        </p:nvSpPr>
        <p:spPr/>
        <p:txBody>
          <a:bodyPr/>
          <a:lstStyle/>
          <a:p>
            <a:pPr algn="r" rtl="1"/>
            <a:r>
              <a:rPr lang="ar-JO" dirty="0"/>
              <a:t>العهدان الدوليان لحقوق الانسان</a:t>
            </a:r>
            <a:endParaRPr lang="en-US" dirty="0"/>
          </a:p>
        </p:txBody>
      </p:sp>
    </p:spTree>
    <p:extLst>
      <p:ext uri="{BB962C8B-B14F-4D97-AF65-F5344CB8AC3E}">
        <p14:creationId xmlns:p14="http://schemas.microsoft.com/office/powerpoint/2010/main" val="32463763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أ. تضمنهما حقا جديدا لم ينص عليه في الاعلان ح إ، </a:t>
            </a:r>
          </a:p>
          <a:p>
            <a:pPr algn="just" rtl="1"/>
            <a:r>
              <a:rPr lang="ar-JO" dirty="0"/>
              <a:t>   وهو حق الشعوب في تقرير مصيرها</a:t>
            </a:r>
          </a:p>
          <a:p>
            <a:pPr algn="just" rtl="1"/>
            <a:endParaRPr lang="ar-JO" dirty="0"/>
          </a:p>
          <a:p>
            <a:pPr algn="just" rtl="1"/>
            <a:r>
              <a:rPr lang="ar-JO" dirty="0"/>
              <a:t>ب. العهدان ملزمان</a:t>
            </a:r>
            <a:endParaRPr lang="en-US" dirty="0"/>
          </a:p>
        </p:txBody>
      </p:sp>
      <p:sp>
        <p:nvSpPr>
          <p:cNvPr id="2" name="Title 1"/>
          <p:cNvSpPr>
            <a:spLocks noGrp="1"/>
          </p:cNvSpPr>
          <p:nvPr>
            <p:ph type="title"/>
          </p:nvPr>
        </p:nvSpPr>
        <p:spPr/>
        <p:txBody>
          <a:bodyPr>
            <a:normAutofit fontScale="90000"/>
          </a:bodyPr>
          <a:lstStyle/>
          <a:p>
            <a:pPr algn="r" rtl="1"/>
            <a:r>
              <a:rPr lang="ar-JO" dirty="0"/>
              <a:t>امتياز العهدين الدوليين </a:t>
            </a:r>
            <a:br>
              <a:rPr lang="ar-JO" dirty="0"/>
            </a:br>
            <a:r>
              <a:rPr lang="ar-JO" dirty="0"/>
              <a:t>عن الاعلان العالمي لحقوق الانسان</a:t>
            </a:r>
            <a:endParaRPr lang="en-US" dirty="0"/>
          </a:p>
        </p:txBody>
      </p:sp>
    </p:spTree>
    <p:extLst>
      <p:ext uri="{BB962C8B-B14F-4D97-AF65-F5344CB8AC3E}">
        <p14:creationId xmlns:p14="http://schemas.microsoft.com/office/powerpoint/2010/main" val="14559831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ديباجة كل عهد تذكر ب:</a:t>
            </a:r>
          </a:p>
          <a:p>
            <a:pPr algn="just" rtl="1"/>
            <a:r>
              <a:rPr lang="ar-JO" dirty="0"/>
              <a:t>التزامات الدول وفق ميثاق الامم المتحدة</a:t>
            </a:r>
          </a:p>
          <a:p>
            <a:pPr algn="just" rtl="1"/>
            <a:r>
              <a:rPr lang="ar-JO" dirty="0"/>
              <a:t>مسؤولية الفرد في السعي من أجل تعزيز الحقوق واحترامها</a:t>
            </a:r>
          </a:p>
          <a:p>
            <a:pPr marL="0" indent="0" algn="just" rtl="1">
              <a:buNone/>
            </a:pPr>
            <a:endParaRPr lang="ar-JO" dirty="0"/>
          </a:p>
          <a:p>
            <a:pPr algn="just" rtl="1"/>
            <a:r>
              <a:rPr lang="ar-JO" dirty="0"/>
              <a:t>م 1 تنص على حق تقرير المصير</a:t>
            </a:r>
          </a:p>
          <a:p>
            <a:pPr algn="just" rtl="1"/>
            <a:r>
              <a:rPr lang="ar-JO" dirty="0"/>
              <a:t>م 3 تنص على حق المساواة بين الرجل والمرأة</a:t>
            </a:r>
          </a:p>
          <a:p>
            <a:pPr algn="just" rtl="1"/>
            <a:endParaRPr lang="en-US" dirty="0"/>
          </a:p>
        </p:txBody>
      </p:sp>
      <p:sp>
        <p:nvSpPr>
          <p:cNvPr id="2" name="Title 1"/>
          <p:cNvSpPr>
            <a:spLocks noGrp="1"/>
          </p:cNvSpPr>
          <p:nvPr>
            <p:ph type="title"/>
          </p:nvPr>
        </p:nvSpPr>
        <p:spPr/>
        <p:txBody>
          <a:bodyPr/>
          <a:lstStyle/>
          <a:p>
            <a:pPr algn="r" rtl="1"/>
            <a:r>
              <a:rPr lang="ar-JO" dirty="0"/>
              <a:t>مرتكزات العهدين واحدة</a:t>
            </a:r>
            <a:endParaRPr lang="en-US" dirty="0"/>
          </a:p>
        </p:txBody>
      </p:sp>
    </p:spTree>
    <p:extLst>
      <p:ext uri="{BB962C8B-B14F-4D97-AF65-F5344CB8AC3E}">
        <p14:creationId xmlns:p14="http://schemas.microsoft.com/office/powerpoint/2010/main" val="13341297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يتضمن الحقوق المدنية والسياسية ك:</a:t>
            </a:r>
          </a:p>
          <a:p>
            <a:pPr algn="just" rtl="1"/>
            <a:r>
              <a:rPr lang="ar-JO" dirty="0"/>
              <a:t>الحق في الحياة</a:t>
            </a:r>
          </a:p>
          <a:p>
            <a:pPr algn="just" rtl="1"/>
            <a:r>
              <a:rPr lang="ar-JO" dirty="0"/>
              <a:t>حرية التنقل</a:t>
            </a:r>
          </a:p>
          <a:p>
            <a:pPr algn="just" rtl="1"/>
            <a:r>
              <a:rPr lang="ar-JO" dirty="0"/>
              <a:t>الحق في محاكمة عادلة</a:t>
            </a:r>
          </a:p>
          <a:p>
            <a:pPr algn="just" rtl="1"/>
            <a:r>
              <a:rPr lang="ar-JO" dirty="0"/>
              <a:t>حقوق الأشخاص المنتمين لأقليات</a:t>
            </a:r>
          </a:p>
          <a:p>
            <a:pPr algn="just" rtl="1"/>
            <a:r>
              <a:rPr lang="ar-JO" dirty="0"/>
              <a:t>الحق في التصويت</a:t>
            </a:r>
          </a:p>
          <a:p>
            <a:pPr algn="just" rtl="1"/>
            <a:r>
              <a:rPr lang="ar-JO" dirty="0"/>
              <a:t>الحق في الترشيح والترشح.</a:t>
            </a:r>
            <a:endParaRPr lang="en-US" dirty="0"/>
          </a:p>
        </p:txBody>
      </p:sp>
      <p:sp>
        <p:nvSpPr>
          <p:cNvPr id="2" name="Title 1"/>
          <p:cNvSpPr>
            <a:spLocks noGrp="1"/>
          </p:cNvSpPr>
          <p:nvPr>
            <p:ph type="title"/>
          </p:nvPr>
        </p:nvSpPr>
        <p:spPr/>
        <p:txBody>
          <a:bodyPr/>
          <a:lstStyle/>
          <a:p>
            <a:pPr algn="ctr"/>
            <a:r>
              <a:rPr lang="ar-JO" dirty="0"/>
              <a:t>العهد الدولي للحقوق المدنية والسياسية</a:t>
            </a:r>
            <a:endParaRPr lang="en-US" dirty="0"/>
          </a:p>
        </p:txBody>
      </p:sp>
    </p:spTree>
    <p:extLst>
      <p:ext uri="{BB962C8B-B14F-4D97-AF65-F5344CB8AC3E}">
        <p14:creationId xmlns:p14="http://schemas.microsoft.com/office/powerpoint/2010/main" val="40146630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يتضمن الحقوق الاقتصادية والاجتماعية والثقافية ك:</a:t>
            </a:r>
          </a:p>
          <a:p>
            <a:pPr algn="just" rtl="1"/>
            <a:r>
              <a:rPr lang="ar-JO" dirty="0"/>
              <a:t>الحق في العمل</a:t>
            </a:r>
          </a:p>
          <a:p>
            <a:pPr algn="just" rtl="1"/>
            <a:r>
              <a:rPr lang="ar-JO" dirty="0"/>
              <a:t>والتعليم</a:t>
            </a:r>
          </a:p>
          <a:p>
            <a:pPr algn="just" rtl="1"/>
            <a:r>
              <a:rPr lang="ar-JO" dirty="0"/>
              <a:t>والضمان الاجتماعي</a:t>
            </a:r>
          </a:p>
          <a:p>
            <a:pPr algn="just" rtl="1"/>
            <a:r>
              <a:rPr lang="ar-JO" dirty="0"/>
              <a:t>والحق في السكن والغذاء والصحة...</a:t>
            </a:r>
            <a:endParaRPr lang="en-US" dirty="0"/>
          </a:p>
        </p:txBody>
      </p:sp>
      <p:sp>
        <p:nvSpPr>
          <p:cNvPr id="2" name="Title 1"/>
          <p:cNvSpPr>
            <a:spLocks noGrp="1"/>
          </p:cNvSpPr>
          <p:nvPr>
            <p:ph type="title"/>
          </p:nvPr>
        </p:nvSpPr>
        <p:spPr/>
        <p:txBody>
          <a:bodyPr>
            <a:normAutofit fontScale="90000"/>
          </a:bodyPr>
          <a:lstStyle/>
          <a:p>
            <a:pPr algn="ctr"/>
            <a:r>
              <a:rPr lang="ar-JO" dirty="0"/>
              <a:t>العهد الدولي للحقوق </a:t>
            </a:r>
            <a:br>
              <a:rPr lang="ar-JO" dirty="0"/>
            </a:br>
            <a:r>
              <a:rPr lang="ar-JO" dirty="0"/>
              <a:t>الاقتصادية والاجتماعية والثقافية</a:t>
            </a:r>
            <a:endParaRPr lang="en-US" dirty="0"/>
          </a:p>
        </p:txBody>
      </p:sp>
    </p:spTree>
    <p:extLst>
      <p:ext uri="{BB962C8B-B14F-4D97-AF65-F5344CB8AC3E}">
        <p14:creationId xmlns:p14="http://schemas.microsoft.com/office/powerpoint/2010/main" val="940568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r" rtl="1"/>
            <a:r>
              <a:rPr lang="ar-JO" dirty="0"/>
              <a:t>1965: اتفاقية القضاء على جميع أشكال التمييز العنصري</a:t>
            </a:r>
          </a:p>
          <a:p>
            <a:pPr algn="r" rtl="1"/>
            <a:r>
              <a:rPr lang="ar-JO" dirty="0"/>
              <a:t>1979: اتفاقية القضاء على جميع أشكال التمييز ضد المرأة</a:t>
            </a:r>
          </a:p>
          <a:p>
            <a:pPr algn="r" rtl="1"/>
            <a:r>
              <a:rPr lang="ar-JO" dirty="0"/>
              <a:t>1984: اتفاقية مناهضة التعذيب وغيره من ضروب المعاملة أو العقوبة القاسية أو اللاإنسانية أو المهينة.</a:t>
            </a:r>
          </a:p>
          <a:p>
            <a:pPr algn="r" rtl="1"/>
            <a:r>
              <a:rPr lang="ar-JO" dirty="0"/>
              <a:t>1989: اتفاقية حقوق الطفل</a:t>
            </a:r>
          </a:p>
          <a:p>
            <a:pPr algn="r" rtl="1"/>
            <a:r>
              <a:rPr lang="ar-JO" dirty="0"/>
              <a:t>1990: اتفاقية حماية جميع العمال المهاجرين وأفراد أسرهم</a:t>
            </a:r>
          </a:p>
          <a:p>
            <a:pPr algn="r" rtl="1"/>
            <a:r>
              <a:rPr lang="ar-JO" dirty="0"/>
              <a:t>2006: اتفاقية حقوق الأشخاص ذوي الإعاقة</a:t>
            </a:r>
          </a:p>
          <a:p>
            <a:pPr algn="r" rtl="1"/>
            <a:r>
              <a:rPr lang="ar-JO" dirty="0"/>
              <a:t>2006: اتفاقية حماية جميع الأشخاص من الاختفاء القسري</a:t>
            </a:r>
            <a:endParaRPr lang="en-US" dirty="0"/>
          </a:p>
        </p:txBody>
      </p:sp>
      <p:sp>
        <p:nvSpPr>
          <p:cNvPr id="2" name="Title 1"/>
          <p:cNvSpPr>
            <a:spLocks noGrp="1"/>
          </p:cNvSpPr>
          <p:nvPr>
            <p:ph type="title"/>
          </p:nvPr>
        </p:nvSpPr>
        <p:spPr/>
        <p:txBody>
          <a:bodyPr/>
          <a:lstStyle/>
          <a:p>
            <a:r>
              <a:rPr lang="ar-JO" dirty="0"/>
              <a:t>المواثيق العالمية الخاصة لحقوق الانسان</a:t>
            </a:r>
            <a:endParaRPr lang="en-US" dirty="0"/>
          </a:p>
        </p:txBody>
      </p:sp>
    </p:spTree>
    <p:extLst>
      <p:ext uri="{BB962C8B-B14F-4D97-AF65-F5344CB8AC3E}">
        <p14:creationId xmlns:p14="http://schemas.microsoft.com/office/powerpoint/2010/main" val="35648598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كذلك تم وضع العديد من الاتفاقيات الدولية التي تنص على حقوق الانسان في إطار الوكالات المتخصصة، مثل:</a:t>
            </a:r>
          </a:p>
          <a:p>
            <a:pPr algn="just" rtl="1"/>
            <a:r>
              <a:rPr lang="ar-JO" dirty="0"/>
              <a:t>منظمة العمل الدولية:</a:t>
            </a:r>
          </a:p>
          <a:p>
            <a:pPr algn="just" rtl="1"/>
            <a:r>
              <a:rPr lang="ar-JO" dirty="0"/>
              <a:t>- 1957: اتفاقية الغاء العمل القسري</a:t>
            </a:r>
          </a:p>
          <a:p>
            <a:pPr algn="just" rtl="1"/>
            <a:r>
              <a:rPr lang="ar-JO" dirty="0"/>
              <a:t>- 1973: اتفاقية الحد الأدنى لسن الالتحاق بالعمل</a:t>
            </a:r>
          </a:p>
          <a:p>
            <a:pPr algn="just" rtl="1"/>
            <a:r>
              <a:rPr lang="ar-JO" dirty="0"/>
              <a:t>اليونسكو (منظمة الأمم المتحدة للتربية والعلم والثقافة):</a:t>
            </a:r>
          </a:p>
          <a:p>
            <a:pPr algn="just" rtl="1"/>
            <a:r>
              <a:rPr lang="ar-JO" dirty="0"/>
              <a:t>1960: الاتفاقية الخاصة بمكافحة التمييز في مجال التعليم .....</a:t>
            </a:r>
            <a:endParaRPr lang="en-US" dirty="0"/>
          </a:p>
        </p:txBody>
      </p:sp>
      <p:sp>
        <p:nvSpPr>
          <p:cNvPr id="2" name="Title 1"/>
          <p:cNvSpPr>
            <a:spLocks noGrp="1"/>
          </p:cNvSpPr>
          <p:nvPr>
            <p:ph type="title"/>
          </p:nvPr>
        </p:nvSpPr>
        <p:spPr/>
        <p:txBody>
          <a:bodyPr/>
          <a:lstStyle/>
          <a:p>
            <a:r>
              <a:rPr lang="ar-JO" dirty="0"/>
              <a:t>المواثيق العالمية الخاصة لحقوق الانسان</a:t>
            </a:r>
            <a:endParaRPr lang="en-US" dirty="0"/>
          </a:p>
        </p:txBody>
      </p:sp>
    </p:spTree>
    <p:extLst>
      <p:ext uri="{BB962C8B-B14F-4D97-AF65-F5344CB8AC3E}">
        <p14:creationId xmlns:p14="http://schemas.microsoft.com/office/powerpoint/2010/main" val="3600301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يقتصر نطاق تطبيقها على مناطق معينة ك:</a:t>
            </a:r>
          </a:p>
          <a:p>
            <a:pPr marL="0" indent="0" algn="r" rtl="1">
              <a:buNone/>
            </a:pPr>
            <a:endParaRPr lang="ar-JO" dirty="0"/>
          </a:p>
          <a:p>
            <a:pPr algn="r" rtl="1"/>
            <a:r>
              <a:rPr lang="ar-JO" dirty="0"/>
              <a:t>مجلس اوروبا</a:t>
            </a:r>
          </a:p>
          <a:p>
            <a:pPr algn="r" rtl="1"/>
            <a:r>
              <a:rPr lang="ar-JO" dirty="0"/>
              <a:t>منظمة الدول الامريكية</a:t>
            </a:r>
          </a:p>
          <a:p>
            <a:pPr algn="r" rtl="1"/>
            <a:r>
              <a:rPr lang="ar-JO" dirty="0"/>
              <a:t>الاتحاد الافريقي</a:t>
            </a:r>
          </a:p>
          <a:p>
            <a:pPr algn="r" rtl="1"/>
            <a:r>
              <a:rPr lang="ar-JO" dirty="0"/>
              <a:t>الجامعة العربية</a:t>
            </a:r>
            <a:endParaRPr lang="en-US" dirty="0"/>
          </a:p>
        </p:txBody>
      </p:sp>
      <p:sp>
        <p:nvSpPr>
          <p:cNvPr id="2" name="Title 1"/>
          <p:cNvSpPr>
            <a:spLocks noGrp="1"/>
          </p:cNvSpPr>
          <p:nvPr>
            <p:ph type="title"/>
          </p:nvPr>
        </p:nvSpPr>
        <p:spPr/>
        <p:txBody>
          <a:bodyPr/>
          <a:lstStyle/>
          <a:p>
            <a:r>
              <a:rPr lang="ar-JO" dirty="0"/>
              <a:t>ثانيا: المواثيق الإقليمية لحقوق الانسان</a:t>
            </a:r>
            <a:endParaRPr lang="en-US" dirty="0"/>
          </a:p>
        </p:txBody>
      </p:sp>
    </p:spTree>
    <p:extLst>
      <p:ext uri="{BB962C8B-B14F-4D97-AF65-F5344CB8AC3E}">
        <p14:creationId xmlns:p14="http://schemas.microsoft.com/office/powerpoint/2010/main" val="40237525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1. التأكيد على الحقوق المنصوص عليها في الاتفاقيات العالمية، كالتزام بضمان هذه الحقوق</a:t>
            </a:r>
          </a:p>
          <a:p>
            <a:pPr marL="0" indent="0" algn="just" rtl="1">
              <a:buNone/>
            </a:pPr>
            <a:endParaRPr lang="ar-JO" dirty="0"/>
          </a:p>
          <a:p>
            <a:pPr algn="just" rtl="1"/>
            <a:r>
              <a:rPr lang="ar-JO" dirty="0"/>
              <a:t>2. النص على حقوق جديدة تراعي الخصوصية الاقليمية</a:t>
            </a:r>
          </a:p>
          <a:p>
            <a:pPr marL="0" indent="0" algn="just" rtl="1">
              <a:buNone/>
            </a:pPr>
            <a:endParaRPr lang="ar-JO" dirty="0"/>
          </a:p>
          <a:p>
            <a:pPr algn="just" rtl="1"/>
            <a:r>
              <a:rPr lang="ar-JO" dirty="0"/>
              <a:t>3. وضع آلية للرقابة أكثر فعالية لضمان حقوق الانسان، كالنص في الاتفاقية على انشاء محكمة لحقوق الانسان</a:t>
            </a:r>
            <a:endParaRPr lang="en-US" dirty="0"/>
          </a:p>
        </p:txBody>
      </p:sp>
      <p:sp>
        <p:nvSpPr>
          <p:cNvPr id="2" name="Title 1"/>
          <p:cNvSpPr>
            <a:spLocks noGrp="1"/>
          </p:cNvSpPr>
          <p:nvPr>
            <p:ph type="title"/>
          </p:nvPr>
        </p:nvSpPr>
        <p:spPr/>
        <p:txBody>
          <a:bodyPr/>
          <a:lstStyle/>
          <a:p>
            <a:r>
              <a:rPr lang="ar-JO" dirty="0"/>
              <a:t>أسباب وجود المواثيق الاقليمية 3</a:t>
            </a:r>
            <a:endParaRPr lang="en-US" dirty="0"/>
          </a:p>
        </p:txBody>
      </p:sp>
    </p:spTree>
    <p:extLst>
      <p:ext uri="{BB962C8B-B14F-4D97-AF65-F5344CB8AC3E}">
        <p14:creationId xmlns:p14="http://schemas.microsoft.com/office/powerpoint/2010/main" val="16026175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rtl="1"/>
            <a:r>
              <a:rPr lang="ar-JO" dirty="0"/>
              <a:t>1. الاتفاقية الأوروبية لحقوق الانسان</a:t>
            </a:r>
          </a:p>
          <a:p>
            <a:pPr algn="just" rtl="1"/>
            <a:endParaRPr lang="ar-JO" dirty="0"/>
          </a:p>
          <a:p>
            <a:pPr algn="just" rtl="1"/>
            <a:r>
              <a:rPr lang="ar-JO" dirty="0"/>
              <a:t>2. الاتفاقية الأمريكية لحقوق الانسان</a:t>
            </a:r>
          </a:p>
          <a:p>
            <a:pPr algn="just" rtl="1"/>
            <a:endParaRPr lang="ar-JO" dirty="0"/>
          </a:p>
          <a:p>
            <a:pPr algn="just" rtl="1"/>
            <a:r>
              <a:rPr lang="ar-JO" dirty="0"/>
              <a:t>3. الميثاق الافريقي لحقوق الانسان والشعوب</a:t>
            </a:r>
          </a:p>
          <a:p>
            <a:pPr algn="just" rtl="1"/>
            <a:endParaRPr lang="ar-JO" dirty="0"/>
          </a:p>
          <a:p>
            <a:pPr algn="just" rtl="1"/>
            <a:r>
              <a:rPr lang="ar-JO" dirty="0"/>
              <a:t>4. الميثاق العربي لحقوق الانسان</a:t>
            </a:r>
          </a:p>
          <a:p>
            <a:pPr algn="just" rtl="1"/>
            <a:endParaRPr lang="ar-JO" dirty="0"/>
          </a:p>
          <a:p>
            <a:pPr algn="just" rtl="1"/>
            <a:r>
              <a:rPr lang="ar-JO" dirty="0"/>
              <a:t>5. إعلان القاهرة حول حقوق الانسان في الاسلام</a:t>
            </a:r>
            <a:endParaRPr lang="en-US" dirty="0"/>
          </a:p>
        </p:txBody>
      </p:sp>
      <p:sp>
        <p:nvSpPr>
          <p:cNvPr id="2" name="Title 1"/>
          <p:cNvSpPr>
            <a:spLocks noGrp="1"/>
          </p:cNvSpPr>
          <p:nvPr>
            <p:ph type="title"/>
          </p:nvPr>
        </p:nvSpPr>
        <p:spPr/>
        <p:txBody>
          <a:bodyPr/>
          <a:lstStyle/>
          <a:p>
            <a:r>
              <a:rPr lang="ar-JO" dirty="0"/>
              <a:t>أهم المواثيق الاقليمية لحقوق الانسان </a:t>
            </a:r>
            <a:endParaRPr lang="en-US" dirty="0"/>
          </a:p>
        </p:txBody>
      </p:sp>
    </p:spTree>
    <p:extLst>
      <p:ext uri="{BB962C8B-B14F-4D97-AF65-F5344CB8AC3E}">
        <p14:creationId xmlns:p14="http://schemas.microsoft.com/office/powerpoint/2010/main" val="38893142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rtl="1"/>
            <a:r>
              <a:rPr lang="ar-JO" dirty="0"/>
              <a:t>سارعت الدول الاوروبية في منظمة مجلس اوروبا الى وضع أول اتفاقية إقليمية لحقوق الانسان، </a:t>
            </a:r>
          </a:p>
          <a:p>
            <a:pPr algn="just" rtl="1"/>
            <a:r>
              <a:rPr lang="ar-JO" dirty="0"/>
              <a:t>لاسيما وأنها كانت من أكثر الدول تضررا من الحربين العالميتين اللتين ارتكبت خلالهما انتهاكات جسيمة لحقوق إ</a:t>
            </a:r>
          </a:p>
          <a:p>
            <a:pPr algn="just" rtl="1"/>
            <a:r>
              <a:rPr lang="ar-JO" dirty="0"/>
              <a:t>1950: اتفاقية حماية حقوق الانسان والحريات الأساسية (المعروفة بالاتفاقية الاوروبية لحقوق الانسان)</a:t>
            </a:r>
          </a:p>
          <a:p>
            <a:pPr algn="just" rtl="1"/>
            <a:r>
              <a:rPr lang="ar-JO" dirty="0"/>
              <a:t>وتنص على الحقوق المدنية والسياسية التي يتمتع بها الأشخاص المتواجدون في أية دولة أوروبية عضو في منظمة مجلس أوروبا.</a:t>
            </a:r>
            <a:endParaRPr lang="en-US" dirty="0"/>
          </a:p>
          <a:p>
            <a:pPr algn="just" rtl="1"/>
            <a:endParaRPr lang="en-US" dirty="0"/>
          </a:p>
        </p:txBody>
      </p:sp>
      <p:sp>
        <p:nvSpPr>
          <p:cNvPr id="2" name="Title 1"/>
          <p:cNvSpPr>
            <a:spLocks noGrp="1"/>
          </p:cNvSpPr>
          <p:nvPr>
            <p:ph type="title"/>
          </p:nvPr>
        </p:nvSpPr>
        <p:spPr/>
        <p:txBody>
          <a:bodyPr/>
          <a:lstStyle/>
          <a:p>
            <a:r>
              <a:rPr lang="ar-JO" dirty="0"/>
              <a:t>1. الاتفاقية الأوروبية لحقوق الانسان</a:t>
            </a:r>
            <a:endParaRPr lang="en-US" dirty="0"/>
          </a:p>
        </p:txBody>
      </p:sp>
    </p:spTree>
    <p:extLst>
      <p:ext uri="{BB962C8B-B14F-4D97-AF65-F5344CB8AC3E}">
        <p14:creationId xmlns:p14="http://schemas.microsoft.com/office/powerpoint/2010/main" val="39925623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1969: أصدرت الدول الامريكية الأعضاء في منظمة الدول الأمريكية الاتفاقية الامريكية لحقوق الانسان</a:t>
            </a:r>
          </a:p>
          <a:p>
            <a:pPr marL="0" indent="0" algn="r" rtl="1">
              <a:buNone/>
            </a:pPr>
            <a:endParaRPr lang="ar-JO" dirty="0"/>
          </a:p>
          <a:p>
            <a:pPr algn="r" rtl="1"/>
            <a:r>
              <a:rPr lang="ar-JO" dirty="0"/>
              <a:t>تنص على الحقوق المدنية والسياسية</a:t>
            </a:r>
            <a:endParaRPr lang="en-US" dirty="0"/>
          </a:p>
        </p:txBody>
      </p:sp>
      <p:sp>
        <p:nvSpPr>
          <p:cNvPr id="2" name="Title 1"/>
          <p:cNvSpPr>
            <a:spLocks noGrp="1"/>
          </p:cNvSpPr>
          <p:nvPr>
            <p:ph type="title"/>
          </p:nvPr>
        </p:nvSpPr>
        <p:spPr/>
        <p:txBody>
          <a:bodyPr/>
          <a:lstStyle/>
          <a:p>
            <a:r>
              <a:rPr lang="ar-JO" dirty="0"/>
              <a:t>2. الاتفاقية الامريكية لحقوق الانسان</a:t>
            </a:r>
            <a:endParaRPr lang="en-US" dirty="0"/>
          </a:p>
        </p:txBody>
      </p:sp>
    </p:spTree>
    <p:extLst>
      <p:ext uri="{BB962C8B-B14F-4D97-AF65-F5344CB8AC3E}">
        <p14:creationId xmlns:p14="http://schemas.microsoft.com/office/powerpoint/2010/main" val="38948510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rtl="1"/>
            <a:r>
              <a:rPr lang="ar-JO" dirty="0"/>
              <a:t>1981: أصدرته الدول الافريقية الأعضاء في منظمة الاتحاد الافريقي </a:t>
            </a:r>
          </a:p>
          <a:p>
            <a:pPr algn="just" rtl="1"/>
            <a:r>
              <a:rPr lang="ar-JO" dirty="0"/>
              <a:t>ينص على الاجيال الثلاثة لحقوق الانسان أي:</a:t>
            </a:r>
          </a:p>
          <a:p>
            <a:pPr algn="just" rtl="1"/>
            <a:r>
              <a:rPr lang="ar-JO" dirty="0"/>
              <a:t>- الحقوق المدنية والسياسية</a:t>
            </a:r>
          </a:p>
          <a:p>
            <a:pPr algn="just" rtl="1"/>
            <a:r>
              <a:rPr lang="ar-JO" dirty="0"/>
              <a:t>- والحقوق الاقتصادية والاجتماعية والثقافية </a:t>
            </a:r>
          </a:p>
          <a:p>
            <a:pPr algn="just" rtl="1"/>
            <a:r>
              <a:rPr lang="ar-JO" dirty="0"/>
              <a:t>- وحقوق التضامن</a:t>
            </a:r>
            <a:endParaRPr lang="en-US" dirty="0"/>
          </a:p>
        </p:txBody>
      </p:sp>
      <p:sp>
        <p:nvSpPr>
          <p:cNvPr id="2" name="Title 1"/>
          <p:cNvSpPr>
            <a:spLocks noGrp="1"/>
          </p:cNvSpPr>
          <p:nvPr>
            <p:ph type="title"/>
          </p:nvPr>
        </p:nvSpPr>
        <p:spPr/>
        <p:txBody>
          <a:bodyPr/>
          <a:lstStyle/>
          <a:p>
            <a:r>
              <a:rPr lang="ar-JO" dirty="0"/>
              <a:t>3. الميثاق الافريقي لحقوق الانسان والشعوب</a:t>
            </a:r>
            <a:endParaRPr lang="en-US" dirty="0"/>
          </a:p>
        </p:txBody>
      </p:sp>
    </p:spTree>
    <p:extLst>
      <p:ext uri="{BB962C8B-B14F-4D97-AF65-F5344CB8AC3E}">
        <p14:creationId xmlns:p14="http://schemas.microsoft.com/office/powerpoint/2010/main" val="1903445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2004: صدر عن الدول العربية الأعضاء في منظمة جامعة الدول العربية</a:t>
            </a:r>
          </a:p>
          <a:p>
            <a:pPr algn="r" rtl="1"/>
            <a:r>
              <a:rPr lang="ar-JO" dirty="0"/>
              <a:t>نص على أغلب حقوق الانسان (المدنية والسياسية، والاقتصادية والاجتماعية والثقافية) و(حقوق التضامن)</a:t>
            </a:r>
          </a:p>
          <a:p>
            <a:pPr algn="r" rtl="1"/>
            <a:r>
              <a:rPr lang="ar-JO" dirty="0"/>
              <a:t>ونص على الحق في:</a:t>
            </a:r>
          </a:p>
          <a:p>
            <a:pPr algn="r" rtl="1"/>
            <a:r>
              <a:rPr lang="ar-JO" dirty="0"/>
              <a:t>- تقرير المصير</a:t>
            </a:r>
          </a:p>
          <a:p>
            <a:pPr algn="r" rtl="1"/>
            <a:r>
              <a:rPr lang="ar-JO" dirty="0"/>
              <a:t>- التنمية</a:t>
            </a:r>
          </a:p>
          <a:p>
            <a:pPr algn="r" rtl="1"/>
            <a:r>
              <a:rPr lang="ar-JO" dirty="0"/>
              <a:t>- بيئة سليمة</a:t>
            </a:r>
            <a:endParaRPr lang="en-US" dirty="0"/>
          </a:p>
        </p:txBody>
      </p:sp>
      <p:sp>
        <p:nvSpPr>
          <p:cNvPr id="2" name="Title 1"/>
          <p:cNvSpPr>
            <a:spLocks noGrp="1"/>
          </p:cNvSpPr>
          <p:nvPr>
            <p:ph type="title"/>
          </p:nvPr>
        </p:nvSpPr>
        <p:spPr/>
        <p:txBody>
          <a:bodyPr/>
          <a:lstStyle/>
          <a:p>
            <a:r>
              <a:rPr lang="ar-JO" dirty="0"/>
              <a:t>4. الميثاق العربي لحقوق الانسان</a:t>
            </a:r>
            <a:endParaRPr lang="en-US" dirty="0"/>
          </a:p>
        </p:txBody>
      </p:sp>
    </p:spTree>
    <p:extLst>
      <p:ext uri="{BB962C8B-B14F-4D97-AF65-F5344CB8AC3E}">
        <p14:creationId xmlns:p14="http://schemas.microsoft.com/office/powerpoint/2010/main" val="22300973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r" rtl="1"/>
            <a:r>
              <a:rPr lang="ar-JO" dirty="0"/>
              <a:t>1990: صدر عن الدول الاسلامية الأعضاء في منظمة التعاون الاسلامي</a:t>
            </a:r>
          </a:p>
          <a:p>
            <a:pPr algn="r" rtl="1"/>
            <a:endParaRPr lang="ar-JO" dirty="0"/>
          </a:p>
          <a:p>
            <a:pPr algn="r" rtl="1"/>
            <a:r>
              <a:rPr lang="ar-JO" dirty="0"/>
              <a:t>يتضمن جملة من حقوق الانسان كما جاءت في الشريعة الاسلامية</a:t>
            </a:r>
          </a:p>
          <a:p>
            <a:pPr algn="r" rtl="1"/>
            <a:endParaRPr lang="ar-JO" dirty="0"/>
          </a:p>
          <a:p>
            <a:pPr algn="r" rtl="1"/>
            <a:r>
              <a:rPr lang="ar-JO" dirty="0"/>
              <a:t>غير ملزم، لا يعد اتفاقية</a:t>
            </a:r>
            <a:endParaRPr lang="en-US" dirty="0"/>
          </a:p>
        </p:txBody>
      </p:sp>
      <p:sp>
        <p:nvSpPr>
          <p:cNvPr id="2" name="Title 1"/>
          <p:cNvSpPr>
            <a:spLocks noGrp="1"/>
          </p:cNvSpPr>
          <p:nvPr>
            <p:ph type="title"/>
          </p:nvPr>
        </p:nvSpPr>
        <p:spPr/>
        <p:txBody>
          <a:bodyPr>
            <a:normAutofit fontScale="90000"/>
          </a:bodyPr>
          <a:lstStyle/>
          <a:p>
            <a:r>
              <a:rPr lang="ar-JO" dirty="0"/>
              <a:t>5. إعلان القاهرة حول حقوق الانسان في الاسلام</a:t>
            </a:r>
            <a:endParaRPr lang="en-US" dirty="0"/>
          </a:p>
        </p:txBody>
      </p:sp>
    </p:spTree>
    <p:extLst>
      <p:ext uri="{BB962C8B-B14F-4D97-AF65-F5344CB8AC3E}">
        <p14:creationId xmlns:p14="http://schemas.microsoft.com/office/powerpoint/2010/main" val="32427595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rtl="1"/>
            <a:r>
              <a:rPr lang="ar-JO" dirty="0"/>
              <a:t>في القرآن: </a:t>
            </a:r>
            <a:r>
              <a:rPr lang="ar-AE" dirty="0"/>
              <a:t>اختلاف الناس شعوبا وقبائل لم يكن ليتقاتلوا ويختلفوا ولكن ليتعارفوا ويتعاونوا</a:t>
            </a:r>
            <a:endParaRPr lang="ar-JO" dirty="0"/>
          </a:p>
          <a:p>
            <a:pPr marL="109728" indent="0" algn="just" rtl="1">
              <a:buNone/>
            </a:pPr>
            <a:endParaRPr lang="ar-JO" dirty="0"/>
          </a:p>
          <a:p>
            <a:pPr algn="just" rtl="1"/>
            <a:r>
              <a:rPr lang="ar-JO" dirty="0"/>
              <a:t>في السنة: حلف الفضول: يستفاد منه أن </a:t>
            </a:r>
            <a:r>
              <a:rPr lang="ar-SA" dirty="0"/>
              <a:t>الاشتراك فى الأحلاف الرامية إلى تحقيق العدل، أو أى هدف سام آخر، هو أمر مرغوب فيه.</a:t>
            </a:r>
            <a:endParaRPr lang="ar-JO" dirty="0"/>
          </a:p>
          <a:p>
            <a:pPr marL="109728" indent="0" algn="just" rtl="1">
              <a:buNone/>
            </a:pPr>
            <a:endParaRPr lang="ar-JO" dirty="0"/>
          </a:p>
          <a:p>
            <a:pPr algn="just" rtl="1"/>
            <a:r>
              <a:rPr lang="ar-AE" dirty="0"/>
              <a:t>وهكذا فإن اشتراك الدول الإسلامية</a:t>
            </a:r>
            <a:r>
              <a:rPr lang="ar-JO" dirty="0"/>
              <a:t> </a:t>
            </a:r>
            <a:r>
              <a:rPr lang="ar-AE" dirty="0"/>
              <a:t>فى مواثيق دولية تهدف إلى تعزيز وحماية حقوق الإنسان هو أمر مرغوب فيه. كما أنه مناسبة جيدة لإظهار ما فى الإسلام من مناقب ومعان سامية.</a:t>
            </a:r>
            <a:endParaRPr lang="ar-JO" dirty="0"/>
          </a:p>
          <a:p>
            <a:pPr marL="109728" indent="0" algn="just" rtl="1">
              <a:buNone/>
            </a:pPr>
            <a:endParaRPr lang="en-US" dirty="0"/>
          </a:p>
          <a:p>
            <a:pPr algn="just" rtl="1"/>
            <a:r>
              <a:rPr lang="ar-SA" dirty="0"/>
              <a:t>وقد أكد </a:t>
            </a:r>
            <a:r>
              <a:rPr lang="ar-SA" b="1" dirty="0"/>
              <a:t>الدستور الإماراتى </a:t>
            </a:r>
            <a:r>
              <a:rPr lang="ar-SA" dirty="0"/>
              <a:t>على التعاون</a:t>
            </a:r>
            <a:r>
              <a:rPr lang="ar-JO" dirty="0"/>
              <a:t>، م (12)</a:t>
            </a:r>
            <a:endParaRPr lang="en-US" dirty="0"/>
          </a:p>
        </p:txBody>
      </p:sp>
      <p:sp>
        <p:nvSpPr>
          <p:cNvPr id="3" name="Title 2"/>
          <p:cNvSpPr>
            <a:spLocks noGrp="1"/>
          </p:cNvSpPr>
          <p:nvPr>
            <p:ph type="title"/>
          </p:nvPr>
        </p:nvSpPr>
        <p:spPr/>
        <p:txBody>
          <a:bodyPr>
            <a:normAutofit fontScale="90000"/>
          </a:bodyPr>
          <a:lstStyle/>
          <a:p>
            <a:pPr algn="ctr" rtl="1"/>
            <a:r>
              <a:rPr lang="ar-JO" dirty="0"/>
              <a:t>ثالثا: </a:t>
            </a:r>
            <a:r>
              <a:rPr lang="ar-AE" dirty="0">
                <a:effectLst/>
              </a:rPr>
              <a:t>انضمام الدول الإسلامية للمواثيق الدولية لحقوق الإنسان</a:t>
            </a:r>
            <a:endParaRPr lang="en-US" dirty="0"/>
          </a:p>
        </p:txBody>
      </p:sp>
    </p:spTree>
    <p:extLst>
      <p:ext uri="{BB962C8B-B14F-4D97-AF65-F5344CB8AC3E}">
        <p14:creationId xmlns:p14="http://schemas.microsoft.com/office/powerpoint/2010/main" val="28945222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algn="just" rtl="1"/>
            <a:r>
              <a:rPr lang="ar-AE" dirty="0"/>
              <a:t>تلتزم الدول الإسلامية الأطراف فى المواثيق الدولية لحقوق الإنسان بأن تُنفذ تعهداتها والتزاماتها الدولية المنصوص عليها فى هذه المواثيق.</a:t>
            </a:r>
            <a:endParaRPr lang="ar-JO" dirty="0"/>
          </a:p>
          <a:p>
            <a:pPr marL="109728" indent="0" algn="just" rtl="1">
              <a:buNone/>
            </a:pPr>
            <a:endParaRPr lang="en-US" dirty="0"/>
          </a:p>
          <a:p>
            <a:pPr algn="just" rtl="1"/>
            <a:r>
              <a:rPr lang="ar-EG" dirty="0"/>
              <a:t>ويتأسس</a:t>
            </a:r>
            <a:r>
              <a:rPr lang="ar-SA" dirty="0"/>
              <a:t> التزام </a:t>
            </a:r>
            <a:r>
              <a:rPr lang="ar-AE" dirty="0"/>
              <a:t>الدول الإسلامية </a:t>
            </a:r>
            <a:r>
              <a:rPr lang="ar-SA" dirty="0"/>
              <a:t>بتنفيذ المواثيق </a:t>
            </a:r>
            <a:r>
              <a:rPr lang="ar-EG" dirty="0"/>
              <a:t>واحترامها على قاعدة "الوفاء بالعهد"؛ </a:t>
            </a:r>
            <a:endParaRPr lang="ar-JO" dirty="0"/>
          </a:p>
          <a:p>
            <a:pPr algn="just" rtl="1"/>
            <a:r>
              <a:rPr lang="ar-SA" dirty="0"/>
              <a:t>فإن الشريعة الإسلامية تتطلب – على نحوٍ واضح – مراعاة العهود والمعاهدات. ومن ثم تلتزم الدول الإسلامية بإعمال المواثيق الدولية لحقوق الإنسان التي صدقت أو انضمت إليها. وعلى المشرع فى هذه الدول ألا يسن تشريعا يُخالف مواثيق حقوق الإنسان المرتبطة بها الدولة.</a:t>
            </a:r>
            <a:endParaRPr lang="ar-JO" dirty="0"/>
          </a:p>
          <a:p>
            <a:pPr algn="just" rtl="1"/>
            <a:r>
              <a:rPr lang="ar-AE" dirty="0"/>
              <a:t>غير أن الإشكالية الأساسية هى أن بعض هذه المواثيق قد تتضمن نصا لا يتفق مع الشريعة الإسلامية؛ كالتبنى مثلا. وهنا لا مَناص من اللجوء إلى الانضمام مع التحفظ،</a:t>
            </a:r>
            <a:r>
              <a:rPr lang="ar-JO" dirty="0"/>
              <a:t> </a:t>
            </a:r>
            <a:r>
              <a:rPr lang="ar-AE" dirty="0"/>
              <a:t>على الرغم من أن التحفظ على </a:t>
            </a:r>
            <a:r>
              <a:rPr lang="ar-SA" dirty="0"/>
              <a:t>مواثيق حقوق الإنسان أمر غير مرغوب فيه، ولذلك، لا يجب اللجوء إليه إلا كملاذ أخير لحماية إحدى القيم الأساسية فى دستور الدولة.</a:t>
            </a:r>
            <a:endParaRPr lang="en-US" dirty="0"/>
          </a:p>
        </p:txBody>
      </p:sp>
      <p:sp>
        <p:nvSpPr>
          <p:cNvPr id="3" name="Title 2"/>
          <p:cNvSpPr>
            <a:spLocks noGrp="1"/>
          </p:cNvSpPr>
          <p:nvPr>
            <p:ph type="title"/>
          </p:nvPr>
        </p:nvSpPr>
        <p:spPr/>
        <p:txBody>
          <a:bodyPr>
            <a:normAutofit fontScale="90000"/>
          </a:bodyPr>
          <a:lstStyle/>
          <a:p>
            <a:pPr algn="ctr"/>
            <a:r>
              <a:rPr lang="ar-EG" dirty="0">
                <a:effectLst/>
              </a:rPr>
              <a:t>التزام الدول الإسلامية بتنفيذ مواثيق حقوق الإنسان السارية فيها</a:t>
            </a:r>
            <a:endParaRPr lang="en-US" dirty="0"/>
          </a:p>
        </p:txBody>
      </p:sp>
    </p:spTree>
    <p:extLst>
      <p:ext uri="{BB962C8B-B14F-4D97-AF65-F5344CB8AC3E}">
        <p14:creationId xmlns:p14="http://schemas.microsoft.com/office/powerpoint/2010/main" val="14596478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rtl="1"/>
            <a:r>
              <a:rPr lang="ar-SA" dirty="0"/>
              <a:t>أن حقوق الإنسان فى الإسلام توجد فى القرآن الكريم، والسنة النبوية، والاجتهاد. وهذه الحقوق على ضربين:</a:t>
            </a:r>
            <a:endParaRPr lang="en-US" dirty="0"/>
          </a:p>
          <a:p>
            <a:pPr algn="just" rtl="1"/>
            <a:r>
              <a:rPr lang="ar-SA" dirty="0"/>
              <a:t>أ- حقوق ثابتة بنصوص قطعية الثبوت والدلالة؛ ومن أمثلتها: القصاص، والزواج والطلاق، والحقوق المتعلقة بالميراث، وغير ذلك. وهذه الحقوق لا يجوز الاتفاق على مخالفتها</a:t>
            </a:r>
            <a:r>
              <a:rPr lang="ar-JO" dirty="0"/>
              <a:t>.</a:t>
            </a:r>
          </a:p>
          <a:p>
            <a:pPr algn="just" rtl="1"/>
            <a:r>
              <a:rPr lang="ar-SA" dirty="0"/>
              <a:t>ب- الحقوق الأخرى – وهى الأكثرية – وتُستمد من الاجتهاد الذى يُراعى المقاصد الكلية للشريعة، ومصالح الناس، والتيسير عليهم. والأمثلة على هذه الحقوق كثيرة؛ كالموت الإكلينيكى، ونشر صور الضحايا، وتنظيم حرية التعبير عن الرأى، وتحريم كافة وسائل التعذيب، وغيرها. وهذه الحقوق تشترك الدول الإسلامية مع غيرها من الدول فى تنظيمها وتعزيزها وحمايتها.</a:t>
            </a:r>
            <a:endParaRPr lang="en-US" dirty="0"/>
          </a:p>
        </p:txBody>
      </p:sp>
      <p:sp>
        <p:nvSpPr>
          <p:cNvPr id="3" name="Title 2"/>
          <p:cNvSpPr>
            <a:spLocks noGrp="1"/>
          </p:cNvSpPr>
          <p:nvPr>
            <p:ph type="title"/>
          </p:nvPr>
        </p:nvSpPr>
        <p:spPr/>
        <p:txBody>
          <a:bodyPr>
            <a:normAutofit fontScale="90000"/>
          </a:bodyPr>
          <a:lstStyle/>
          <a:p>
            <a:pPr algn="ctr"/>
            <a:r>
              <a:rPr lang="ar-EG" dirty="0">
                <a:effectLst/>
              </a:rPr>
              <a:t>تحفظ الدول الإسلامية على المواثيق الدولية لحقوق الإنسان</a:t>
            </a:r>
            <a:endParaRPr lang="en-US" dirty="0"/>
          </a:p>
        </p:txBody>
      </p:sp>
    </p:spTree>
    <p:extLst>
      <p:ext uri="{BB962C8B-B14F-4D97-AF65-F5344CB8AC3E}">
        <p14:creationId xmlns:p14="http://schemas.microsoft.com/office/powerpoint/2010/main" val="1532630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9EF480-CD88-F496-4090-1C58390F9901}"/>
              </a:ext>
            </a:extLst>
          </p:cNvPr>
          <p:cNvSpPr>
            <a:spLocks noGrp="1"/>
          </p:cNvSpPr>
          <p:nvPr>
            <p:ph idx="1"/>
          </p:nvPr>
        </p:nvSpPr>
        <p:spPr>
          <a:xfrm>
            <a:off x="457200" y="1481328"/>
            <a:ext cx="8229600" cy="4919472"/>
          </a:xfrm>
        </p:spPr>
        <p:txBody>
          <a:bodyPr>
            <a:normAutofit fontScale="77500" lnSpcReduction="20000"/>
          </a:bodyPr>
          <a:lstStyle/>
          <a:p>
            <a:pPr marL="109728" indent="0" algn="r" rtl="1">
              <a:buNone/>
            </a:pPr>
            <a:r>
              <a:rPr lang="ar-SA" b="1" dirty="0"/>
              <a:t>1. القضايا المستجدة (النوازل)</a:t>
            </a:r>
          </a:p>
          <a:p>
            <a:pPr marL="109728" indent="0" algn="r" rtl="1">
              <a:buNone/>
            </a:pPr>
            <a:r>
              <a:rPr lang="ar-SA" b="1" dirty="0"/>
              <a:t>أحكام البنوك والمعاملات المالية الحديثة</a:t>
            </a:r>
            <a:r>
              <a:rPr lang="ar-SA" dirty="0"/>
              <a:t>: مثل البطاقات الائتمانية، العملات الرقمية، والتأمين التجاري.</a:t>
            </a:r>
          </a:p>
          <a:p>
            <a:pPr marL="109728" indent="0" algn="r" rtl="1">
              <a:buNone/>
            </a:pPr>
            <a:r>
              <a:rPr lang="ar-SA" b="1" dirty="0"/>
              <a:t>التقنيات الطبية الحديثة</a:t>
            </a:r>
            <a:r>
              <a:rPr lang="ar-SA" dirty="0"/>
              <a:t>: مثل حكم زراعة الأعضاء، أطفال الأنابيب، والاستنساخ.</a:t>
            </a:r>
          </a:p>
          <a:p>
            <a:pPr marL="109728" indent="0" algn="r" rtl="1">
              <a:buNone/>
            </a:pPr>
            <a:r>
              <a:rPr lang="ar-SA" b="1" dirty="0"/>
              <a:t>2. تنظيم العبادات في المستجدات</a:t>
            </a:r>
          </a:p>
          <a:p>
            <a:pPr marL="109728" indent="0" algn="r" rtl="1">
              <a:buNone/>
            </a:pPr>
            <a:r>
              <a:rPr lang="ar-SA" b="1" dirty="0"/>
              <a:t>أوقات الصلاة في المناطق القطبية</a:t>
            </a:r>
            <a:r>
              <a:rPr lang="ar-SA" dirty="0"/>
              <a:t>: حيث لا تغيب الشمس أو لا تشرق لفترات طويلة.</a:t>
            </a:r>
          </a:p>
          <a:p>
            <a:pPr marL="109728" indent="0" algn="r" rtl="1">
              <a:buNone/>
            </a:pPr>
            <a:r>
              <a:rPr lang="ar-SA" b="1" dirty="0"/>
              <a:t>أحكام الطهارة مع وجود الأطراف الصناعية أو في ظروف انعدام الماء (رواد الفضاء مثلًا).</a:t>
            </a:r>
            <a:endParaRPr lang="ar-SA" dirty="0"/>
          </a:p>
          <a:p>
            <a:pPr marL="109728" indent="0" algn="r" rtl="1">
              <a:buNone/>
            </a:pPr>
            <a:r>
              <a:rPr lang="ar-SA" b="1" dirty="0"/>
              <a:t>3. القوانين والعقوبات المستحدثة</a:t>
            </a:r>
          </a:p>
          <a:p>
            <a:pPr marL="109728" indent="0" algn="r" rtl="1">
              <a:buNone/>
            </a:pPr>
            <a:r>
              <a:rPr lang="ar-SA" b="1" dirty="0"/>
              <a:t>تنظيم عقوبات الجرائم الحديثة</a:t>
            </a:r>
            <a:r>
              <a:rPr lang="ar-SA" dirty="0"/>
              <a:t> مثل الجرائم الإلكترونية والاحتيال الرقمي.</a:t>
            </a:r>
          </a:p>
          <a:p>
            <a:pPr marL="109728" indent="0" algn="r" rtl="1">
              <a:buNone/>
            </a:pPr>
            <a:r>
              <a:rPr lang="ar-SA" b="1" dirty="0"/>
              <a:t>4. المعاملات المالية</a:t>
            </a:r>
          </a:p>
          <a:p>
            <a:pPr marL="109728" indent="0" algn="r" rtl="1">
              <a:buNone/>
            </a:pPr>
            <a:r>
              <a:rPr lang="ar-SA" b="1" dirty="0"/>
              <a:t>الأسهم والسندات والتداول الإلكتروني</a:t>
            </a:r>
            <a:r>
              <a:rPr lang="ar-SA" dirty="0"/>
              <a:t>: مدى توافقها مع الشريعة الإسلامية.</a:t>
            </a:r>
          </a:p>
          <a:p>
            <a:pPr marL="109728" indent="0" algn="r" rtl="1">
              <a:buNone/>
            </a:pPr>
            <a:r>
              <a:rPr lang="ar-SA" b="1" dirty="0"/>
              <a:t>العملات الرقمية مثل البيتكوين</a:t>
            </a:r>
            <a:r>
              <a:rPr lang="ar-SA" dirty="0"/>
              <a:t> وحكم التعامل بها.</a:t>
            </a:r>
          </a:p>
          <a:p>
            <a:pPr marL="109728" indent="0" algn="r" rtl="1">
              <a:buNone/>
            </a:pPr>
            <a:r>
              <a:rPr lang="ar-SA" b="1" dirty="0"/>
              <a:t>5. قضايا المرأة والأسرة</a:t>
            </a:r>
          </a:p>
          <a:p>
            <a:pPr marL="109728" indent="0" algn="r" rtl="1">
              <a:buNone/>
            </a:pPr>
            <a:r>
              <a:rPr lang="ar-SA" b="1" dirty="0"/>
              <a:t>تنظيم حق الحضانة والسفر</a:t>
            </a:r>
            <a:r>
              <a:rPr lang="ar-SA" dirty="0"/>
              <a:t> في ضوء التغيرات الاجتماعية الحديثة.</a:t>
            </a:r>
          </a:p>
          <a:p>
            <a:pPr marL="109728" indent="0" algn="r" rtl="1">
              <a:buNone/>
            </a:pPr>
            <a:r>
              <a:rPr lang="ar-SA" b="1" dirty="0"/>
              <a:t>أحكام توثيق الزواج والطلاق إلكترونيًا</a:t>
            </a:r>
            <a:r>
              <a:rPr lang="ar-SA" dirty="0"/>
              <a:t> وتأثيره على صحة العقود الشرعية.</a:t>
            </a:r>
          </a:p>
          <a:p>
            <a:pPr marL="109728" indent="0" algn="r" rtl="1">
              <a:buNone/>
            </a:pPr>
            <a:endParaRPr lang="en-US" dirty="0"/>
          </a:p>
        </p:txBody>
      </p:sp>
      <p:sp>
        <p:nvSpPr>
          <p:cNvPr id="3" name="Title 2">
            <a:extLst>
              <a:ext uri="{FF2B5EF4-FFF2-40B4-BE49-F238E27FC236}">
                <a16:creationId xmlns:a16="http://schemas.microsoft.com/office/drawing/2014/main" id="{0B4B6C88-D3A4-FC49-5473-B5845CCD708C}"/>
              </a:ext>
            </a:extLst>
          </p:cNvPr>
          <p:cNvSpPr>
            <a:spLocks noGrp="1"/>
          </p:cNvSpPr>
          <p:nvPr>
            <p:ph type="title"/>
          </p:nvPr>
        </p:nvSpPr>
        <p:spPr/>
        <p:txBody>
          <a:bodyPr/>
          <a:lstStyle/>
          <a:p>
            <a:pPr algn="r"/>
            <a:r>
              <a:rPr lang="ar-SA" dirty="0"/>
              <a:t>أمور يسمح بهاالاجتهاد: </a:t>
            </a:r>
            <a:endParaRPr lang="en-US" dirty="0"/>
          </a:p>
        </p:txBody>
      </p:sp>
    </p:spTree>
    <p:extLst>
      <p:ext uri="{BB962C8B-B14F-4D97-AF65-F5344CB8AC3E}">
        <p14:creationId xmlns:p14="http://schemas.microsoft.com/office/powerpoint/2010/main" val="42591747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gn="just" rtl="1"/>
            <a:r>
              <a:rPr lang="ar-SA" dirty="0"/>
              <a:t>وهكذا، فإنه إذا رأت دولة إسلامية أن ميثاقا دوليا لحقوق الإنسان – باستثناء مواد محددة – يتفق مع الشريعة الإسلامية؛ أي أن هناك نصوصا محددة تُخالفها، فإنه يُمكن التصديق أو الانضمام  إلى هذا الميثاق مع التحفظ على هذه المواد. </a:t>
            </a:r>
            <a:endParaRPr lang="ar-JO" dirty="0"/>
          </a:p>
          <a:p>
            <a:pPr algn="just" rtl="1"/>
            <a:r>
              <a:rPr lang="ar-SA" dirty="0"/>
              <a:t>ويُشترط في هذه الحالة أن يكون الميثاق نفسه يسمح بالتحفظ على هذه المواد. ويترتب على التصديق مع التحفظ أن تكون هذه الدولة ملتزمة بتنفيذ الميثاق باستثناء النصوص المُتحفظ عليها، أو أن تُطبق المواد المتحفظ عليها على نحو معين (كأن لا يتعارض مع أحكام الشريعة الإسلامية). </a:t>
            </a:r>
            <a:endParaRPr lang="ar-JO" dirty="0"/>
          </a:p>
          <a:p>
            <a:pPr algn="just" rtl="1"/>
            <a:r>
              <a:rPr lang="ar-SA" dirty="0"/>
              <a:t>ومن أمثلة ذلك، تحفظت الإمارات، وسوريا، وعُمان، والكويت، والأردن، ومصر، والمغرب على نص المادة 21 فى اتفاقية حقوق الطفل (1989) الذى ينص على "التبنى" وذلك لتعارضه مع الشريعة الإسلامية التي لا تسمح بالتبنى.</a:t>
            </a:r>
            <a:endParaRPr lang="ar-JO" dirty="0"/>
          </a:p>
          <a:p>
            <a:pPr algn="r" rtl="1"/>
            <a:endParaRPr lang="en-US" dirty="0"/>
          </a:p>
        </p:txBody>
      </p:sp>
      <p:sp>
        <p:nvSpPr>
          <p:cNvPr id="3" name="Title 2"/>
          <p:cNvSpPr>
            <a:spLocks noGrp="1"/>
          </p:cNvSpPr>
          <p:nvPr>
            <p:ph type="title"/>
          </p:nvPr>
        </p:nvSpPr>
        <p:spPr/>
        <p:txBody>
          <a:bodyPr>
            <a:normAutofit fontScale="90000"/>
          </a:bodyPr>
          <a:lstStyle/>
          <a:p>
            <a:pPr algn="ctr"/>
            <a:r>
              <a:rPr lang="ar-EG" dirty="0">
                <a:effectLst/>
              </a:rPr>
              <a:t>تحفظ الدول الإسلامية على المواثيق الدولية لحقوق الإنسان</a:t>
            </a:r>
            <a:endParaRPr lang="en-US" dirty="0"/>
          </a:p>
        </p:txBody>
      </p:sp>
    </p:spTree>
    <p:extLst>
      <p:ext uri="{BB962C8B-B14F-4D97-AF65-F5344CB8AC3E}">
        <p14:creationId xmlns:p14="http://schemas.microsoft.com/office/powerpoint/2010/main" val="20753470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rtl="1"/>
            <a:r>
              <a:rPr lang="ar-EG" dirty="0"/>
              <a:t>هناك تقسيمات عديدة لحقوق الإنسان؛</a:t>
            </a:r>
            <a:r>
              <a:rPr lang="ar-JO" dirty="0"/>
              <a:t> </a:t>
            </a:r>
            <a:r>
              <a:rPr lang="ar-EG" dirty="0"/>
              <a:t>من بينها تقسيمها </a:t>
            </a:r>
            <a:r>
              <a:rPr lang="ar-JO" dirty="0"/>
              <a:t>كما يلي:</a:t>
            </a:r>
          </a:p>
          <a:p>
            <a:pPr algn="just" rtl="1"/>
            <a:r>
              <a:rPr lang="ar-JO" dirty="0"/>
              <a:t>- </a:t>
            </a:r>
            <a:r>
              <a:rPr lang="ar-EG" dirty="0"/>
              <a:t>الجيل الأول أو الحقوق السلبية </a:t>
            </a:r>
            <a:endParaRPr lang="ar-JO" dirty="0"/>
          </a:p>
          <a:p>
            <a:pPr algn="just" rtl="1"/>
            <a:r>
              <a:rPr lang="ar-JO" dirty="0"/>
              <a:t>- </a:t>
            </a:r>
            <a:r>
              <a:rPr lang="ar-EG" dirty="0"/>
              <a:t>الجيل الثانى أو الحقوق الإيجابية </a:t>
            </a:r>
            <a:endParaRPr lang="ar-JO" dirty="0"/>
          </a:p>
          <a:p>
            <a:pPr algn="just" rtl="1"/>
            <a:r>
              <a:rPr lang="ar-JO" dirty="0"/>
              <a:t>- </a:t>
            </a:r>
            <a:r>
              <a:rPr lang="ar-EG" dirty="0"/>
              <a:t>الجيل الثالث أو حقوق التضامن</a:t>
            </a:r>
            <a:endParaRPr lang="en-US" dirty="0"/>
          </a:p>
        </p:txBody>
      </p:sp>
      <p:sp>
        <p:nvSpPr>
          <p:cNvPr id="3" name="Title 2"/>
          <p:cNvSpPr>
            <a:spLocks noGrp="1"/>
          </p:cNvSpPr>
          <p:nvPr>
            <p:ph type="title"/>
          </p:nvPr>
        </p:nvSpPr>
        <p:spPr/>
        <p:txBody>
          <a:bodyPr/>
          <a:lstStyle/>
          <a:p>
            <a:pPr algn="ctr"/>
            <a:r>
              <a:rPr lang="ar-JO" dirty="0"/>
              <a:t>رابعا: </a:t>
            </a:r>
            <a:r>
              <a:rPr lang="ar-AE" dirty="0">
                <a:effectLst/>
              </a:rPr>
              <a:t>أنواع حقوق الإنسان</a:t>
            </a:r>
            <a:endParaRPr lang="en-US" dirty="0"/>
          </a:p>
        </p:txBody>
      </p:sp>
    </p:spTree>
    <p:extLst>
      <p:ext uri="{BB962C8B-B14F-4D97-AF65-F5344CB8AC3E}">
        <p14:creationId xmlns:p14="http://schemas.microsoft.com/office/powerpoint/2010/main" val="30343005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rtl="1"/>
            <a:r>
              <a:rPr lang="ar-EG" dirty="0"/>
              <a:t>ومن أمثلتها: الحق في الحياة، ومنع التمييز، وحرية التنقل، وحرية التعبير، والحق في التصويت. </a:t>
            </a:r>
            <a:endParaRPr lang="ar-JO" dirty="0"/>
          </a:p>
          <a:p>
            <a:pPr marL="109728" indent="0" algn="just" rtl="1">
              <a:buNone/>
            </a:pPr>
            <a:endParaRPr lang="ar-JO" dirty="0"/>
          </a:p>
          <a:p>
            <a:pPr algn="just" rtl="1"/>
            <a:r>
              <a:rPr lang="ar-EG" dirty="0"/>
              <a:t>وهذه الحقوق تفرض التزامات على الدولة؛ وهذه الالتزامات يمكن وصفها بأنها التزامات سلبية مقارنة بالحقوق الأخرى؛</a:t>
            </a:r>
            <a:endParaRPr lang="ar-JO" dirty="0"/>
          </a:p>
          <a:p>
            <a:pPr marL="109728" indent="0" algn="just" rtl="1">
              <a:buNone/>
            </a:pPr>
            <a:endParaRPr lang="ar-JO" dirty="0"/>
          </a:p>
          <a:p>
            <a:pPr algn="just" rtl="1"/>
            <a:r>
              <a:rPr lang="ar-EG" dirty="0"/>
              <a:t>فال</a:t>
            </a:r>
            <a:r>
              <a:rPr lang="ar-SA" dirty="0"/>
              <a:t>حقوق المدنية والسياسية تفرض التزامات أضعف بالمقارنة </a:t>
            </a:r>
            <a:r>
              <a:rPr lang="ar-EG" dirty="0"/>
              <a:t>بالحقوق </a:t>
            </a:r>
            <a:r>
              <a:rPr lang="ar-SA" dirty="0"/>
              <a:t>الاقتصادية </a:t>
            </a:r>
            <a:r>
              <a:rPr lang="ar-EG" dirty="0"/>
              <a:t>و</a:t>
            </a:r>
            <a:r>
              <a:rPr lang="ar-SA" dirty="0"/>
              <a:t>الاجتماعية والثقافية. </a:t>
            </a:r>
            <a:endParaRPr lang="en-US" dirty="0"/>
          </a:p>
          <a:p>
            <a:pPr marL="109728" indent="0" algn="just" rtl="1">
              <a:buNone/>
            </a:pPr>
            <a:endParaRPr lang="en-US" dirty="0"/>
          </a:p>
        </p:txBody>
      </p:sp>
      <p:sp>
        <p:nvSpPr>
          <p:cNvPr id="3" name="Title 2"/>
          <p:cNvSpPr>
            <a:spLocks noGrp="1"/>
          </p:cNvSpPr>
          <p:nvPr>
            <p:ph type="title"/>
          </p:nvPr>
        </p:nvSpPr>
        <p:spPr/>
        <p:txBody>
          <a:bodyPr>
            <a:normAutofit fontScale="90000"/>
          </a:bodyPr>
          <a:lstStyle/>
          <a:p>
            <a:pPr algn="ctr"/>
            <a:r>
              <a:rPr lang="ar-EG" dirty="0">
                <a:effectLst/>
              </a:rPr>
              <a:t>الجيل الأول أو الحقوق السلبية </a:t>
            </a:r>
            <a:br>
              <a:rPr lang="ar-JO" dirty="0">
                <a:effectLst/>
              </a:rPr>
            </a:br>
            <a:r>
              <a:rPr lang="ar-EG" dirty="0">
                <a:effectLst/>
              </a:rPr>
              <a:t> ال</a:t>
            </a:r>
            <a:r>
              <a:rPr lang="ar-SA" dirty="0">
                <a:effectLst/>
              </a:rPr>
              <a:t>حقوق المدنية والسياسية</a:t>
            </a:r>
            <a:endParaRPr lang="en-US" dirty="0"/>
          </a:p>
        </p:txBody>
      </p:sp>
    </p:spTree>
    <p:extLst>
      <p:ext uri="{BB962C8B-B14F-4D97-AF65-F5344CB8AC3E}">
        <p14:creationId xmlns:p14="http://schemas.microsoft.com/office/powerpoint/2010/main" val="8893619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rtl="1"/>
            <a:r>
              <a:rPr lang="ar-EG" dirty="0"/>
              <a:t>ومن أمثلتها: الحق في التملك، والحق في العمل، والحق في الصحة، والحق في الزواج.</a:t>
            </a:r>
            <a:endParaRPr lang="ar-JO" dirty="0"/>
          </a:p>
          <a:p>
            <a:pPr marL="109728" indent="0" algn="just" rtl="1">
              <a:buNone/>
            </a:pPr>
            <a:endParaRPr lang="ar-JO" dirty="0"/>
          </a:p>
          <a:p>
            <a:pPr algn="just" rtl="1"/>
            <a:r>
              <a:rPr lang="ar-AE" dirty="0"/>
              <a:t>ويتوقف احترام هذه الحقوق على مستوى التقدم الاقتصادي والاجتماعي فى الدولة؛ </a:t>
            </a:r>
            <a:endParaRPr lang="ar-JO" dirty="0"/>
          </a:p>
          <a:p>
            <a:pPr marL="109728" indent="0" algn="just" rtl="1">
              <a:buNone/>
            </a:pPr>
            <a:endParaRPr lang="ar-JO" dirty="0"/>
          </a:p>
          <a:p>
            <a:pPr algn="just" rtl="1"/>
            <a:r>
              <a:rPr lang="ar-AE" dirty="0"/>
              <a:t>فعلى سبيل المثال، الحق فى الصحة يتطلب تدخل الدولة لبناء المستشفيات والمراكز الصحية وتأهيل العاملين فى هذا المجال.</a:t>
            </a:r>
            <a:endParaRPr lang="en-US" dirty="0"/>
          </a:p>
        </p:txBody>
      </p:sp>
      <p:sp>
        <p:nvSpPr>
          <p:cNvPr id="3" name="Title 2"/>
          <p:cNvSpPr>
            <a:spLocks noGrp="1"/>
          </p:cNvSpPr>
          <p:nvPr>
            <p:ph type="title"/>
          </p:nvPr>
        </p:nvSpPr>
        <p:spPr/>
        <p:txBody>
          <a:bodyPr>
            <a:normAutofit fontScale="90000"/>
          </a:bodyPr>
          <a:lstStyle/>
          <a:p>
            <a:pPr algn="ctr"/>
            <a:r>
              <a:rPr lang="ar-EG" dirty="0">
                <a:effectLst/>
              </a:rPr>
              <a:t>الجيل الثانى أو الحقوق الإيجابية </a:t>
            </a:r>
            <a:br>
              <a:rPr lang="ar-JO" dirty="0">
                <a:effectLst/>
              </a:rPr>
            </a:br>
            <a:r>
              <a:rPr lang="ar-EG" dirty="0">
                <a:effectLst/>
              </a:rPr>
              <a:t> الحقوق </a:t>
            </a:r>
            <a:r>
              <a:rPr lang="ar-SA" dirty="0">
                <a:effectLst/>
              </a:rPr>
              <a:t>الاقتصادية </a:t>
            </a:r>
            <a:r>
              <a:rPr lang="ar-EG" dirty="0">
                <a:effectLst/>
              </a:rPr>
              <a:t>و</a:t>
            </a:r>
            <a:r>
              <a:rPr lang="ar-SA" dirty="0">
                <a:effectLst/>
              </a:rPr>
              <a:t>الاجتماعية والثقافية</a:t>
            </a:r>
            <a:endParaRPr lang="en-US" dirty="0"/>
          </a:p>
        </p:txBody>
      </p:sp>
    </p:spTree>
    <p:extLst>
      <p:ext uri="{BB962C8B-B14F-4D97-AF65-F5344CB8AC3E}">
        <p14:creationId xmlns:p14="http://schemas.microsoft.com/office/powerpoint/2010/main" val="1135623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rtl="1"/>
            <a:r>
              <a:rPr lang="ar-EG" dirty="0"/>
              <a:t>؛ ومن أمثلتها: </a:t>
            </a:r>
            <a:endParaRPr lang="ar-JO" dirty="0"/>
          </a:p>
          <a:p>
            <a:pPr algn="just" rtl="1"/>
            <a:r>
              <a:rPr lang="ar-JO" dirty="0"/>
              <a:t>- </a:t>
            </a:r>
            <a:r>
              <a:rPr lang="ar-EG" dirty="0"/>
              <a:t>الحق في تقرير المصير، </a:t>
            </a:r>
            <a:endParaRPr lang="ar-JO" dirty="0"/>
          </a:p>
          <a:p>
            <a:pPr algn="just" rtl="1"/>
            <a:r>
              <a:rPr lang="ar-JO" dirty="0"/>
              <a:t>- </a:t>
            </a:r>
            <a:r>
              <a:rPr lang="ar-EG" dirty="0"/>
              <a:t>والحق في السلم، </a:t>
            </a:r>
            <a:endParaRPr lang="ar-JO" dirty="0"/>
          </a:p>
          <a:p>
            <a:pPr algn="just" rtl="1"/>
            <a:r>
              <a:rPr lang="ar-JO" dirty="0"/>
              <a:t>- </a:t>
            </a:r>
            <a:r>
              <a:rPr lang="ar-EG" dirty="0"/>
              <a:t>والحق في التنمية، </a:t>
            </a:r>
            <a:endParaRPr lang="ar-JO" dirty="0"/>
          </a:p>
          <a:p>
            <a:pPr algn="just" rtl="1"/>
            <a:r>
              <a:rPr lang="ar-JO" dirty="0"/>
              <a:t>- </a:t>
            </a:r>
            <a:r>
              <a:rPr lang="ar-EG" dirty="0"/>
              <a:t>والحق في بيئة سليمة.</a:t>
            </a:r>
            <a:endParaRPr lang="en-US" dirty="0"/>
          </a:p>
          <a:p>
            <a:pPr algn="just" rtl="1"/>
            <a:endParaRPr lang="en-US" dirty="0"/>
          </a:p>
        </p:txBody>
      </p:sp>
      <p:sp>
        <p:nvSpPr>
          <p:cNvPr id="3" name="Title 2"/>
          <p:cNvSpPr>
            <a:spLocks noGrp="1"/>
          </p:cNvSpPr>
          <p:nvPr>
            <p:ph type="title"/>
          </p:nvPr>
        </p:nvSpPr>
        <p:spPr/>
        <p:txBody>
          <a:bodyPr/>
          <a:lstStyle/>
          <a:p>
            <a:pPr algn="ctr"/>
            <a:r>
              <a:rPr lang="ar-EG" dirty="0">
                <a:effectLst/>
              </a:rPr>
              <a:t>الجيل الثالث أو حقوق التضامن </a:t>
            </a:r>
            <a:endParaRPr lang="en-US" dirty="0"/>
          </a:p>
        </p:txBody>
      </p:sp>
    </p:spTree>
    <p:extLst>
      <p:ext uri="{BB962C8B-B14F-4D97-AF65-F5344CB8AC3E}">
        <p14:creationId xmlns:p14="http://schemas.microsoft.com/office/powerpoint/2010/main" val="21618967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rtl="1"/>
            <a:r>
              <a:rPr lang="ar-EG" dirty="0"/>
              <a:t>ففي إطار الأمم المتحدة، صدر العهد الدولي لل</a:t>
            </a:r>
            <a:r>
              <a:rPr lang="ar-SA" dirty="0"/>
              <a:t>حقوق المدنية والسياسية</a:t>
            </a:r>
            <a:r>
              <a:rPr lang="ar-EG" dirty="0"/>
              <a:t>، والعهد الدولي للحقوق </a:t>
            </a:r>
            <a:r>
              <a:rPr lang="ar-SA" dirty="0"/>
              <a:t>الاقتصادية </a:t>
            </a:r>
            <a:r>
              <a:rPr lang="ar-EG" dirty="0"/>
              <a:t>و</a:t>
            </a:r>
            <a:r>
              <a:rPr lang="ar-SA" dirty="0"/>
              <a:t>الاجتماعية والثقافية</a:t>
            </a:r>
            <a:r>
              <a:rPr lang="ar-EG" dirty="0"/>
              <a:t>.</a:t>
            </a:r>
            <a:endParaRPr lang="en-US" dirty="0"/>
          </a:p>
          <a:p>
            <a:pPr algn="just" rtl="1"/>
            <a:r>
              <a:rPr lang="ar-EG" dirty="0"/>
              <a:t> وفى إطار منظمة مجلس أوروبا صدرت الاتفاقية الأوروبية لحقوق الإنسان التى تتضمن ال</a:t>
            </a:r>
            <a:r>
              <a:rPr lang="ar-SA" dirty="0"/>
              <a:t>حقوق المدنية والسياسية</a:t>
            </a:r>
            <a:r>
              <a:rPr lang="ar-EG" dirty="0"/>
              <a:t>، و</a:t>
            </a:r>
            <a:r>
              <a:rPr lang="ar-SA" dirty="0"/>
              <a:t>الميثاق الاجتماعي الأوروبي</a:t>
            </a:r>
            <a:r>
              <a:rPr lang="ar-EG" dirty="0"/>
              <a:t> الذى يتضمن الحقوق </a:t>
            </a:r>
            <a:r>
              <a:rPr lang="ar-SA" dirty="0"/>
              <a:t>الاقتصادية </a:t>
            </a:r>
            <a:r>
              <a:rPr lang="ar-EG" dirty="0"/>
              <a:t>و</a:t>
            </a:r>
            <a:r>
              <a:rPr lang="ar-SA" dirty="0"/>
              <a:t>الاجتماعية والثقافية</a:t>
            </a:r>
            <a:r>
              <a:rPr lang="ar-EG" dirty="0"/>
              <a:t>.</a:t>
            </a:r>
            <a:endParaRPr lang="en-US" dirty="0"/>
          </a:p>
          <a:p>
            <a:pPr algn="just" rtl="1"/>
            <a:r>
              <a:rPr lang="ar-EG" dirty="0"/>
              <a:t>وفى إطار منظمة الدول الأمريكية، صدرت الاتفاقية الأمريكية لحقوق الإنسان التى تتضمن ال</a:t>
            </a:r>
            <a:r>
              <a:rPr lang="ar-SA" dirty="0"/>
              <a:t>حقوق المدنية والسياسية</a:t>
            </a:r>
            <a:r>
              <a:rPr lang="ar-EG" dirty="0"/>
              <a:t>، و</a:t>
            </a:r>
            <a:r>
              <a:rPr lang="ar-SA" dirty="0"/>
              <a:t>البروتوكول الإضافي للاتفاقية الأمريكية لحقوق الإنسان في مجال الحقوق الاقتصادية والاجتماعية والثقافية</a:t>
            </a:r>
            <a:r>
              <a:rPr lang="ar-EG" dirty="0"/>
              <a:t>.</a:t>
            </a:r>
            <a:endParaRPr lang="en-US" dirty="0"/>
          </a:p>
          <a:p>
            <a:pPr algn="just" rtl="1"/>
            <a:r>
              <a:rPr lang="ar-EG" dirty="0"/>
              <a:t>أما الميثاق الأفريقى لحقوق الإنسان والشعوب، والميثاق العربى لحقوق الإنسان، فيتضمنان الأجيال الثلاثة للحقوق في ميثاق واحد شامل.</a:t>
            </a:r>
            <a:endParaRPr lang="en-US" dirty="0"/>
          </a:p>
        </p:txBody>
      </p:sp>
      <p:sp>
        <p:nvSpPr>
          <p:cNvPr id="3" name="Title 2"/>
          <p:cNvSpPr>
            <a:spLocks noGrp="1"/>
          </p:cNvSpPr>
          <p:nvPr>
            <p:ph type="title"/>
          </p:nvPr>
        </p:nvSpPr>
        <p:spPr/>
        <p:txBody>
          <a:bodyPr>
            <a:normAutofit fontScale="90000"/>
          </a:bodyPr>
          <a:lstStyle/>
          <a:p>
            <a:pPr algn="ctr"/>
            <a:r>
              <a:rPr lang="ar-EG" dirty="0">
                <a:effectLst/>
              </a:rPr>
              <a:t>تطبيقا</a:t>
            </a:r>
            <a:r>
              <a:rPr lang="ar-JO" dirty="0">
                <a:effectLst/>
              </a:rPr>
              <a:t>ت</a:t>
            </a:r>
            <a:r>
              <a:rPr lang="ar-EG" dirty="0">
                <a:effectLst/>
              </a:rPr>
              <a:t> في المواثيق الدولية التى عقدت في إطار المنظمات الدولية</a:t>
            </a:r>
            <a:endParaRPr lang="en-US" dirty="0"/>
          </a:p>
        </p:txBody>
      </p:sp>
    </p:spTree>
    <p:extLst>
      <p:ext uri="{BB962C8B-B14F-4D97-AF65-F5344CB8AC3E}">
        <p14:creationId xmlns:p14="http://schemas.microsoft.com/office/powerpoint/2010/main" val="37417616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534400" cy="4864291"/>
          </a:xfrm>
        </p:spPr>
        <p:txBody>
          <a:bodyPr>
            <a:noAutofit/>
          </a:bodyPr>
          <a:lstStyle/>
          <a:p>
            <a:pPr algn="just" rtl="1"/>
            <a:r>
              <a:rPr lang="ar-SA" sz="2400" dirty="0"/>
              <a:t>جميع حقوق الإنسان مترابطة وغير قابلة للتجزئة</a:t>
            </a:r>
            <a:r>
              <a:rPr lang="ar-EG" sz="2400" dirty="0"/>
              <a:t>، وليس هناك تدرج من حيث الأهمية بين هذه الحقوق. </a:t>
            </a:r>
            <a:endParaRPr lang="ar-JO" sz="2400" dirty="0"/>
          </a:p>
          <a:p>
            <a:pPr algn="just" rtl="1"/>
            <a:r>
              <a:rPr lang="ar-EG" sz="2400" dirty="0"/>
              <a:t>وهذا ما أكد عليه </a:t>
            </a:r>
            <a:r>
              <a:rPr lang="ar-SA" sz="2400" dirty="0"/>
              <a:t>إعلان طهران </a:t>
            </a:r>
            <a:r>
              <a:rPr lang="ar-JO" sz="2400" dirty="0"/>
              <a:t>و</a:t>
            </a:r>
            <a:r>
              <a:rPr lang="ar-EG" sz="2400" dirty="0"/>
              <a:t>أكد </a:t>
            </a:r>
            <a:r>
              <a:rPr lang="ar-SA" sz="2400" dirty="0"/>
              <a:t>إعلان وبرنامج عمل فيينا </a:t>
            </a:r>
            <a:r>
              <a:rPr lang="ar-EG" sz="2400" dirty="0"/>
              <a:t>كذلك نص</a:t>
            </a:r>
            <a:r>
              <a:rPr lang="ar-SA" sz="2400" dirty="0"/>
              <a:t> الميثاق </a:t>
            </a:r>
            <a:r>
              <a:rPr lang="ar-EG" sz="2400" dirty="0"/>
              <a:t>العربى لحقوق الإنسان على </a:t>
            </a:r>
            <a:r>
              <a:rPr lang="ar-SA" sz="2400" dirty="0"/>
              <a:t>"أن جميع حقوق الإنسان عالمية وغير قابلة للتجزئة ومترابطة ومتشابكة</a:t>
            </a:r>
            <a:r>
              <a:rPr lang="ar-JO" sz="2400" dirty="0"/>
              <a:t>»</a:t>
            </a:r>
            <a:r>
              <a:rPr lang="ar-SA" sz="2400" dirty="0"/>
              <a:t>.</a:t>
            </a:r>
            <a:endParaRPr lang="ar-JO" sz="2400" dirty="0"/>
          </a:p>
          <a:p>
            <a:pPr algn="just" rtl="1"/>
            <a:r>
              <a:rPr lang="ar-SA" sz="2400" dirty="0"/>
              <a:t>ونص الإعلان العالمي لحقوق الإنسان على أنه "ليس في هذا الإعلان أي نص يجوز تأويله على نحو يفيد انطواءه على تخويل أية دولة أو جماعة، أو أي فرد، أي حق في القيام بأي نشاط أو بأي فعل يهدف إلى هدم أي من الحقوق والحريات المنصوص عليها فيه.«</a:t>
            </a:r>
            <a:endParaRPr lang="ar-JO" sz="2400" dirty="0"/>
          </a:p>
          <a:p>
            <a:pPr algn="just" rtl="1"/>
            <a:r>
              <a:rPr lang="ar-SA" sz="2400" dirty="0"/>
              <a:t>ومفاد هذا النص، أنه لا يجوز أن تؤدى ممارسة أى حق إلى الإضرار بالحقوق الأخرى، وإنما </a:t>
            </a:r>
            <a:r>
              <a:rPr lang="en-US" sz="2400" dirty="0"/>
              <a:t>"</a:t>
            </a:r>
            <a:r>
              <a:rPr lang="en-US" sz="2400" dirty="0" err="1"/>
              <a:t>يجب</a:t>
            </a:r>
            <a:r>
              <a:rPr lang="en-US" sz="2400" dirty="0"/>
              <a:t> </a:t>
            </a:r>
            <a:r>
              <a:rPr lang="en-US" sz="2400" dirty="0" err="1"/>
              <a:t>أن</a:t>
            </a:r>
            <a:r>
              <a:rPr lang="en-US" sz="2400" dirty="0"/>
              <a:t> </a:t>
            </a:r>
            <a:r>
              <a:rPr lang="en-US" sz="2400" dirty="0" err="1"/>
              <a:t>تُمارس</a:t>
            </a:r>
            <a:r>
              <a:rPr lang="en-US" sz="2400" dirty="0"/>
              <a:t> </a:t>
            </a:r>
            <a:r>
              <a:rPr lang="en-US" sz="2400" dirty="0" err="1"/>
              <a:t>جميع</a:t>
            </a:r>
            <a:r>
              <a:rPr lang="en-US" sz="2400" dirty="0"/>
              <a:t> </a:t>
            </a:r>
            <a:r>
              <a:rPr lang="en-US" sz="2400" dirty="0" err="1"/>
              <a:t>الحقوق</a:t>
            </a:r>
            <a:r>
              <a:rPr lang="en-US" sz="2400" dirty="0"/>
              <a:t> </a:t>
            </a:r>
            <a:r>
              <a:rPr lang="en-US" sz="2400" dirty="0" err="1"/>
              <a:t>مع</a:t>
            </a:r>
            <a:r>
              <a:rPr lang="en-US" sz="2400" dirty="0"/>
              <a:t> </a:t>
            </a:r>
            <a:r>
              <a:rPr lang="en-US" sz="2400" dirty="0" err="1"/>
              <a:t>المراعاة</a:t>
            </a:r>
            <a:r>
              <a:rPr lang="en-US" sz="2400" dirty="0"/>
              <a:t> </a:t>
            </a:r>
            <a:r>
              <a:rPr lang="en-US" sz="2400" dirty="0" err="1"/>
              <a:t>الواجبة</a:t>
            </a:r>
            <a:r>
              <a:rPr lang="en-US" sz="2400" dirty="0"/>
              <a:t> </a:t>
            </a:r>
            <a:r>
              <a:rPr lang="en-US" sz="2400" dirty="0" err="1"/>
              <a:t>لحقوق</a:t>
            </a:r>
            <a:r>
              <a:rPr lang="en-US" sz="2400" dirty="0"/>
              <a:t> </a:t>
            </a:r>
            <a:r>
              <a:rPr lang="en-US" sz="2400" dirty="0" err="1"/>
              <a:t>الآخرين</a:t>
            </a:r>
            <a:r>
              <a:rPr lang="en-US" sz="2400" dirty="0"/>
              <a:t>." </a:t>
            </a:r>
            <a:r>
              <a:rPr lang="ar-EG" sz="2400" dirty="0"/>
              <a:t>فالحق في الخصوصية يتطلب مراعاة الحق في السكن، والحق في الحياة يتطلب مراعاة الحق في الصحة، وحرية التعبير تتطلب مراعاة الحق في التعليم، وهكذا.</a:t>
            </a:r>
            <a:endParaRPr lang="en-US" sz="2400" dirty="0"/>
          </a:p>
        </p:txBody>
      </p:sp>
      <p:sp>
        <p:nvSpPr>
          <p:cNvPr id="3" name="Title 2"/>
          <p:cNvSpPr>
            <a:spLocks noGrp="1"/>
          </p:cNvSpPr>
          <p:nvPr>
            <p:ph type="title"/>
          </p:nvPr>
        </p:nvSpPr>
        <p:spPr>
          <a:xfrm>
            <a:off x="457200" y="274638"/>
            <a:ext cx="8229600" cy="868362"/>
          </a:xfrm>
        </p:spPr>
        <p:txBody>
          <a:bodyPr/>
          <a:lstStyle/>
          <a:p>
            <a:pPr algn="ctr"/>
            <a:r>
              <a:rPr lang="ar-EG" dirty="0">
                <a:effectLst/>
              </a:rPr>
              <a:t>ترابط وتكامل الحقوق</a:t>
            </a:r>
            <a:endParaRPr lang="en-US" dirty="0"/>
          </a:p>
        </p:txBody>
      </p:sp>
    </p:spTree>
    <p:extLst>
      <p:ext uri="{BB962C8B-B14F-4D97-AF65-F5344CB8AC3E}">
        <p14:creationId xmlns:p14="http://schemas.microsoft.com/office/powerpoint/2010/main" val="5929877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r" rtl="1"/>
            <a:endParaRPr lang="ar-JO" dirty="0"/>
          </a:p>
          <a:p>
            <a:pPr algn="r" rtl="1"/>
            <a:r>
              <a:rPr lang="ar-EG" dirty="0"/>
              <a:t>تتناول الفصول الثلاثة الآتية الأنواع الثلاثة لحقوق الإنسان. </a:t>
            </a:r>
            <a:endParaRPr lang="ar-JO" dirty="0"/>
          </a:p>
          <a:p>
            <a:pPr algn="r" rtl="1"/>
            <a:endParaRPr lang="ar-JO" dirty="0"/>
          </a:p>
          <a:p>
            <a:pPr algn="r" rtl="1"/>
            <a:r>
              <a:rPr lang="ar-EG"/>
              <a:t>ثم</a:t>
            </a:r>
            <a:r>
              <a:rPr lang="ar-EG" dirty="0"/>
              <a:t>، يعرض الفصل الأخير لحقوق الفئات الضعيفة.</a:t>
            </a:r>
            <a:endParaRPr lang="en-US" dirty="0"/>
          </a:p>
          <a:p>
            <a:pPr algn="r" rtl="1"/>
            <a:endParaRPr lang="en-US" dirty="0"/>
          </a:p>
        </p:txBody>
      </p:sp>
      <p:sp>
        <p:nvSpPr>
          <p:cNvPr id="3" name="Title 2"/>
          <p:cNvSpPr>
            <a:spLocks noGrp="1"/>
          </p:cNvSpPr>
          <p:nvPr>
            <p:ph type="title"/>
          </p:nvPr>
        </p:nvSpPr>
        <p:spPr/>
        <p:txBody>
          <a:bodyPr/>
          <a:lstStyle/>
          <a:p>
            <a:pPr algn="ctr"/>
            <a:r>
              <a:rPr lang="ar-JO" dirty="0"/>
              <a:t>تقسيم</a:t>
            </a:r>
            <a:endParaRPr lang="en-US" dirty="0"/>
          </a:p>
        </p:txBody>
      </p:sp>
    </p:spTree>
    <p:extLst>
      <p:ext uri="{BB962C8B-B14F-4D97-AF65-F5344CB8AC3E}">
        <p14:creationId xmlns:p14="http://schemas.microsoft.com/office/powerpoint/2010/main" val="13481685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Metadata/LabelInfo.xml><?xml version="1.0" encoding="utf-8"?>
<clbl:labelList xmlns:clbl="http://schemas.microsoft.com/office/2020/mipLabelMetadata">
  <clbl:label id="{0b79772a-82d6-468a-86d6-22ff1101ba48}" enabled="1" method="Privileged" siteId="{e0ba2eba-5425-4d9b-b24b-f0f4845bcf62}" removed="0"/>
</clbl:labelList>
</file>

<file path=docProps/app.xml><?xml version="1.0" encoding="utf-8"?>
<Properties xmlns="http://schemas.openxmlformats.org/officeDocument/2006/extended-properties" xmlns:vt="http://schemas.openxmlformats.org/officeDocument/2006/docPropsVTypes">
  <Template>Concourse</Template>
  <TotalTime>4303</TotalTime>
  <Words>4341</Words>
  <Application>Microsoft Office PowerPoint</Application>
  <PresentationFormat>On-screen Show (4:3)</PresentationFormat>
  <Paragraphs>425</Paragraphs>
  <Slides>70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Droid Arabic Naskh</vt:lpstr>
      <vt:lpstr>Lucida Sans Unicode</vt:lpstr>
      <vt:lpstr>Times New Roman</vt:lpstr>
      <vt:lpstr>Verdana</vt:lpstr>
      <vt:lpstr>Wingdings 2</vt:lpstr>
      <vt:lpstr>Wingdings 3</vt:lpstr>
      <vt:lpstr>Concourse</vt:lpstr>
      <vt:lpstr>مدخل إلى حقوق الانسان في الاسلام والمواثيق الدولية</vt:lpstr>
      <vt:lpstr>تقسيم</vt:lpstr>
      <vt:lpstr>عناصر التعريف</vt:lpstr>
      <vt:lpstr>نتائج التعريف</vt:lpstr>
      <vt:lpstr>أساس حقوق الانسان</vt:lpstr>
      <vt:lpstr>التطور التاريخي والفلسفي لحقوق الانسان</vt:lpstr>
      <vt:lpstr>حقوق الانسان في العصور القديمة</vt:lpstr>
      <vt:lpstr>حقوق الانسان في العصور الوسطى</vt:lpstr>
      <vt:lpstr>حقوق الانسان في العصور الوسطى</vt:lpstr>
      <vt:lpstr>حقوق الانسان في العصر الحديث</vt:lpstr>
      <vt:lpstr>حقوق الانسان في العصر الحديث – تكملة </vt:lpstr>
      <vt:lpstr>حقوق الإنسان في العصر الحديث – تكملة </vt:lpstr>
      <vt:lpstr>حقوق الإنسان في العصر الحديث – تكملة </vt:lpstr>
      <vt:lpstr>حقوق الانسان في العصر الحديث- تكملة </vt:lpstr>
      <vt:lpstr>مصدر حقوق الإنسان</vt:lpstr>
      <vt:lpstr>مصدر حقوق الانسان</vt:lpstr>
      <vt:lpstr>مصدر حقوق الانسان في الاسلام</vt:lpstr>
      <vt:lpstr>مصدر حقوق الانسان في الفكر الغربي</vt:lpstr>
      <vt:lpstr>الاهتمام المعاصر بحقوق الانسان</vt:lpstr>
      <vt:lpstr>حقوق الانسان في الدساتير والقوانين</vt:lpstr>
      <vt:lpstr>الجهود الدولية لتعزيز وحماية حقوق الانسان</vt:lpstr>
      <vt:lpstr>ثانيا: تعريف عام بالمواثيق الدولية لحقوق الانسان</vt:lpstr>
      <vt:lpstr>كيفية وضع المواثيق الدولية لحقوق الانسان</vt:lpstr>
      <vt:lpstr>مضمون المواثيق الدولية لحقوق الانسان</vt:lpstr>
      <vt:lpstr>تقسيم المواثيق الدولية لحقوق الانسان</vt:lpstr>
      <vt:lpstr>1. المواثيق العالمية لحقوق الانسان</vt:lpstr>
      <vt:lpstr>حقوق الانسان في ميثاق الأمم المتحدة</vt:lpstr>
      <vt:lpstr>ملاحظات على النصوص المعنية بحقوق الانسان  في ميثاق الأمم المتحدة</vt:lpstr>
      <vt:lpstr>ملاحظات على النصوص المعنية بحقوق الانسان  في ميثاق الأمم المتحدة</vt:lpstr>
      <vt:lpstr>ملاحظات على النصوص المعنية بحقوق الانسان  في ميثاق الأمم المتحدة</vt:lpstr>
      <vt:lpstr>القيمة القانونية للنصوص المعنية بحقوق الإنسان في ميثاق الأمم المتحدة</vt:lpstr>
      <vt:lpstr>القيمة القانونية للنصوص المعنية بحقوق الإنسان في ميثاق الأمم المتحدة</vt:lpstr>
      <vt:lpstr>القيمة القانونية للنصوص المعنية بحقوق الإنسان في ميثاق الأمم المتحدة</vt:lpstr>
      <vt:lpstr>القيمة القانونية للنصوص المعنية بحقوق الإنسان في ميثاق الأمم المتحدة</vt:lpstr>
      <vt:lpstr>المواثيق الدولية الصادرة في إطار الأمم المتحدة</vt:lpstr>
      <vt:lpstr>المواثيق الدولية الصادرة في إطار الأمم المتحدة</vt:lpstr>
      <vt:lpstr>المجموعة الدولية لحقوق الانسان</vt:lpstr>
      <vt:lpstr>الاعلان العالمي لحقوق الانسان</vt:lpstr>
      <vt:lpstr>الديباجة</vt:lpstr>
      <vt:lpstr>المواد</vt:lpstr>
      <vt:lpstr>أهم السمات المميزة للإعلان العالمي لحقوق الانسان</vt:lpstr>
      <vt:lpstr>القيمة القانونية للاعلان العالمي لحقوق الانسان</vt:lpstr>
      <vt:lpstr>القيمة القانونية للاعلان العالمي لحقوق الانسان</vt:lpstr>
      <vt:lpstr>العهدان الدوليان لحقوق الانسان</vt:lpstr>
      <vt:lpstr>امتياز العهدين الدوليين  عن الاعلان العالمي لحقوق الانسان</vt:lpstr>
      <vt:lpstr>مرتكزات العهدين واحدة</vt:lpstr>
      <vt:lpstr>العهد الدولي للحقوق المدنية والسياسية</vt:lpstr>
      <vt:lpstr>العهد الدولي للحقوق  الاقتصادية والاجتماعية والثقافية</vt:lpstr>
      <vt:lpstr>المواثيق العالمية الخاصة لحقوق الانسان</vt:lpstr>
      <vt:lpstr>المواثيق العالمية الخاصة لحقوق الانسان</vt:lpstr>
      <vt:lpstr>ثانيا: المواثيق الإقليمية لحقوق الانسان</vt:lpstr>
      <vt:lpstr>أسباب وجود المواثيق الاقليمية 3</vt:lpstr>
      <vt:lpstr>أهم المواثيق الاقليمية لحقوق الانسان </vt:lpstr>
      <vt:lpstr>1. الاتفاقية الأوروبية لحقوق الانسان</vt:lpstr>
      <vt:lpstr>2. الاتفاقية الامريكية لحقوق الانسان</vt:lpstr>
      <vt:lpstr>3. الميثاق الافريقي لحقوق الانسان والشعوب</vt:lpstr>
      <vt:lpstr>4. الميثاق العربي لحقوق الانسان</vt:lpstr>
      <vt:lpstr>5. إعلان القاهرة حول حقوق الانسان في الاسلام</vt:lpstr>
      <vt:lpstr>ثالثا: انضمام الدول الإسلامية للمواثيق الدولية لحقوق الإنسان</vt:lpstr>
      <vt:lpstr>التزام الدول الإسلامية بتنفيذ مواثيق حقوق الإنسان السارية فيها</vt:lpstr>
      <vt:lpstr>تحفظ الدول الإسلامية على المواثيق الدولية لحقوق الإنسان</vt:lpstr>
      <vt:lpstr>أمور يسمح بهاالاجتهاد: </vt:lpstr>
      <vt:lpstr>تحفظ الدول الإسلامية على المواثيق الدولية لحقوق الإنسان</vt:lpstr>
      <vt:lpstr>رابعا: أنواع حقوق الإنسان</vt:lpstr>
      <vt:lpstr>الجيل الأول أو الحقوق السلبية   الحقوق المدنية والسياسية</vt:lpstr>
      <vt:lpstr>الجيل الثانى أو الحقوق الإيجابية   الحقوق الاقتصادية والاجتماعية والثقافية</vt:lpstr>
      <vt:lpstr>الجيل الثالث أو حقوق التضامن </vt:lpstr>
      <vt:lpstr>تطبيقات في المواثيق الدولية التى عقدت في إطار المنظمات الدولية</vt:lpstr>
      <vt:lpstr>ترابط وتكامل الحقوق</vt:lpstr>
      <vt:lpstr>تقسيم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مدخل إلى حقوق الانسان في الاسلاموالمواثيق الدولية</dc:title>
  <dc:creator>Dr. Rana Atour</dc:creator>
  <cp:lastModifiedBy>Jamal Barafi</cp:lastModifiedBy>
  <cp:revision>59</cp:revision>
  <dcterms:created xsi:type="dcterms:W3CDTF">2006-08-16T00:00:00Z</dcterms:created>
  <dcterms:modified xsi:type="dcterms:W3CDTF">2025-08-28T08:59:51Z</dcterms:modified>
</cp:coreProperties>
</file>